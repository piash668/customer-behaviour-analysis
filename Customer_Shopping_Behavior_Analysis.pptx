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1C7293"/>
            </a:solidFill>
            <a:effectLst/>
          </c:spPr>
          <c:invertIfNegative val="0"/>
          <c:dLbls>
            <c:numFmt formatCode="#,##0" sourceLinked="0"/>
            <c:txPr>
              <a:bodyPr/>
              <a:lstStyle/>
              <a:p>
                <a:pPr>
                  <a:defRPr b="0" i="0" strike="noStrike" sz="1200" u="none">
                    <a:solidFill>
                      <a:srgbClr val="21295C"/>
                    </a:solidFill>
                    <a:latin typeface="Arial"/>
                  </a:defRPr>
                </a:pPr>
              </a:p>
            </c:txPr>
            <c:showLegendKey val="0"/>
            <c:showVal val="1"/>
            <c:showCatName val="0"/>
            <c:showSerName val="0"/>
            <c:showPercent val="0"/>
            <c:showBubbleSize val="0"/>
            <c:showLeaderLines val="0"/>
          </c:dLbls>
          <c:cat>
            <c:multiLvlStrRef>
              <c:f>Sheet1!$A$2:$A$3</c:f>
              <c:multiLvlStrCache>
                <c:ptCount val="2"/>
                <c:lvl>
                  <c:pt idx="0">
                    <c:v>Female</c:v>
                  </c:pt>
                  <c:pt idx="1">
                    <c:v>Male</c:v>
                  </c:pt>
                </c:lvl>
              </c:multiLvlStrCache>
            </c:multiLvlStrRef>
          </c:cat>
          <c:val>
            <c:numRef>
              <c:f>Sheet1!$B$2:$B$3</c:f>
              <c:numCache>
                <c:formatCode>General</c:formatCode>
                <c:ptCount val="2"/>
                <c:pt idx="0">
                  <c:v>75191</c:v>
                </c:pt>
                <c:pt idx="1">
                  <c:v>157890</c:v>
                </c:pt>
              </c:numCache>
            </c:numRef>
          </c:val>
        </c:ser>
        <c:dLbls>
          <c:numFmt formatCode="#,##0" sourceLinked="0"/>
          <c:txPr>
            <a:bodyPr/>
            <a:lstStyle/>
            <a:p>
              <a:pPr>
                <a:defRPr b="0" i="0" strike="noStrike" sz="1200" u="none">
                  <a:solidFill>
                    <a:srgbClr val="2129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Segment</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1C7293"/>
              </a:solidFill>
              <a:effectLst/>
            </c:spPr>
          </c:dPt>
          <c:dPt>
            <c:idx val="2"/>
            <c:bubble3D val="0"/>
            <c:spPr>
              <a:solidFill>
                <a:srgbClr val="F2A541"/>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Loyal</c:v>
                </c:pt>
                <c:pt idx="1">
                  <c:v>Returning</c:v>
                </c:pt>
                <c:pt idx="2">
                  <c:v>New</c:v>
                </c:pt>
              </c:strCache>
            </c:strRef>
          </c:cat>
          <c:val>
            <c:numRef>
              <c:f>Sheet1!$B$2:$B$4</c:f>
              <c:numCache>
                <c:ptCount val="3"/>
                <c:pt idx="0">
                  <c:v>3116</c:v>
                </c:pt>
                <c:pt idx="1">
                  <c:v>701</c:v>
                </c:pt>
                <c:pt idx="2">
                  <c:v>83</c:v>
                </c:pt>
              </c:numCache>
            </c:numRef>
          </c:val>
        </c:ser>
        <c:firstSliceAng val="0"/>
      </c:pieChart>
      <c:spPr>
        <a:noFill/>
        <a:ln>
          <a:noFill/>
        </a:ln>
        <a:effectLst/>
      </c:spPr>
    </c:plotArea>
    <c:legend>
      <c:legendPos val="r"/>
      <c:overlay val="0"/>
      <c:txPr>
        <a:bodyPr/>
        <a:lstStyle/>
        <a:p>
          <a:pPr>
            <a:defRPr sz="1050">
              <a:solidFill>
                <a:srgbClr val="1B243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65A82"/>
            </a:solidFill>
            <a:effectLst/>
          </c:spPr>
          <c:invertIfNegative val="0"/>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cat>
            <c:multiLvlStrRef>
              <c:f>Sheet1!$A$2:$A$5</c:f>
              <c:multiLvlStrCache>
                <c:ptCount val="4"/>
                <c:lvl>
                  <c:pt idx="0">
                    <c:v>Young Adult</c:v>
                  </c:pt>
                  <c:pt idx="1">
                    <c:v>Middle-aged</c:v>
                  </c:pt>
                  <c:pt idx="2">
                    <c:v>Adult</c:v>
                  </c:pt>
                  <c:pt idx="3">
                    <c:v>Senior</c:v>
                  </c:pt>
                </c:lvl>
              </c:multiLvlStrCache>
            </c:multiLvlStrRef>
          </c:cat>
          <c:val>
            <c:numRef>
              <c:f>Sheet1!$B$2:$B$5</c:f>
              <c:numCache>
                <c:formatCode>General</c:formatCode>
                <c:ptCount val="4"/>
                <c:pt idx="0">
                  <c:v>62143</c:v>
                </c:pt>
                <c:pt idx="1">
                  <c:v>59197</c:v>
                </c:pt>
                <c:pt idx="2">
                  <c:v>55978</c:v>
                </c:pt>
                <c:pt idx="3">
                  <c:v>55763</c:v>
                </c:pt>
              </c:numCache>
            </c:numRef>
          </c:val>
        </c:ser>
        <c:dLbls>
          <c:numFmt formatCode="#,##0" sourceLinked="0"/>
          <c:txPr>
            <a:bodyPr/>
            <a:lstStyle/>
            <a:p>
              <a:pPr>
                <a:defRPr b="0" i="0" strike="noStrike" sz="1100" u="none">
                  <a:solidFill>
                    <a:srgbClr val="2129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065A82">
              <a:alpha val="45000"/>
            </a:srgbClr>
          </a:solidFill>
          <a:ln/>
        </p:spPr>
      </p:sp>
      <p:sp>
        <p:nvSpPr>
          <p:cNvPr id="3" name="Shape 1"/>
          <p:cNvSpPr/>
          <p:nvPr/>
        </p:nvSpPr>
        <p:spPr>
          <a:xfrm>
            <a:off x="10332720" y="3291840"/>
            <a:ext cx="3291840" cy="3291840"/>
          </a:xfrm>
          <a:prstGeom prst="ellipse">
            <a:avLst/>
          </a:prstGeom>
          <a:solidFill>
            <a:srgbClr val="1C7293">
              <a:alpha val="55000"/>
            </a:srgbClr>
          </a:solidFill>
          <a:ln/>
        </p:spPr>
      </p:sp>
      <p:sp>
        <p:nvSpPr>
          <p:cNvPr id="4" name="Shape 2"/>
          <p:cNvSpPr/>
          <p:nvPr/>
        </p:nvSpPr>
        <p:spPr>
          <a:xfrm>
            <a:off x="-1280160" y="4754880"/>
            <a:ext cx="3291840" cy="3291840"/>
          </a:xfrm>
          <a:prstGeom prst="ellipse">
            <a:avLst/>
          </a:prstGeom>
          <a:solidFill>
            <a:srgbClr val="065A82">
              <a:alpha val="45000"/>
            </a:srgbClr>
          </a:solidFill>
          <a:ln/>
        </p:spPr>
      </p:sp>
      <p:sp>
        <p:nvSpPr>
          <p:cNvPr id="5" name="Text 3"/>
          <p:cNvSpPr/>
          <p:nvPr/>
        </p:nvSpPr>
        <p:spPr>
          <a:xfrm>
            <a:off x="822960" y="1417320"/>
            <a:ext cx="7315200" cy="365760"/>
          </a:xfrm>
          <a:prstGeom prst="rect">
            <a:avLst/>
          </a:prstGeom>
          <a:noFill/>
          <a:ln/>
        </p:spPr>
        <p:txBody>
          <a:bodyPr wrap="square" rtlCol="0" anchor="ctr"/>
          <a:lstStyle/>
          <a:p>
            <a:pPr indent="0" marL="0">
              <a:buNone/>
            </a:pPr>
            <a:r>
              <a:rPr lang="en-US" sz="1300" b="1" spc="300" kern="0" dirty="0">
                <a:solidFill>
                  <a:srgbClr val="F2A541"/>
                </a:solidFill>
                <a:latin typeface="Calibri" pitchFamily="34" charset="0"/>
                <a:ea typeface="Calibri" pitchFamily="34" charset="-122"/>
                <a:cs typeface="Calibri" pitchFamily="34" charset="-120"/>
              </a:rPr>
              <a:t>RETAIL ANALYTICS  ·  2024</a:t>
            </a:r>
            <a:endParaRPr lang="en-US" sz="1300" dirty="0"/>
          </a:p>
        </p:txBody>
      </p:sp>
      <p:sp>
        <p:nvSpPr>
          <p:cNvPr id="6" name="Text 4"/>
          <p:cNvSpPr/>
          <p:nvPr/>
        </p:nvSpPr>
        <p:spPr>
          <a:xfrm>
            <a:off x="777240" y="1828800"/>
            <a:ext cx="8686800" cy="210312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Customer Shopping</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Behavior Analysis</a:t>
            </a:r>
            <a:endParaRPr lang="en-US" sz="4600" dirty="0"/>
          </a:p>
        </p:txBody>
      </p:sp>
      <p:sp>
        <p:nvSpPr>
          <p:cNvPr id="7" name="Text 5"/>
          <p:cNvSpPr/>
          <p:nvPr/>
        </p:nvSpPr>
        <p:spPr>
          <a:xfrm>
            <a:off x="822960" y="3977640"/>
            <a:ext cx="7498080" cy="822960"/>
          </a:xfrm>
          <a:prstGeom prst="rect">
            <a:avLst/>
          </a:prstGeom>
          <a:noFill/>
          <a:ln/>
        </p:spPr>
        <p:txBody>
          <a:bodyPr wrap="square" rtlCol="0" anchor="ctr"/>
          <a:lstStyle/>
          <a:p>
            <a:pPr indent="0" marL="0">
              <a:lnSpc>
                <a:spcPts val="2100"/>
              </a:lnSpc>
              <a:buNone/>
            </a:pPr>
            <a:r>
              <a:rPr lang="en-US" sz="1500" dirty="0">
                <a:solidFill>
                  <a:srgbClr val="EAF3F7"/>
                </a:solidFill>
                <a:latin typeface="Calibri" pitchFamily="34" charset="0"/>
                <a:ea typeface="Calibri" pitchFamily="34" charset="-122"/>
                <a:cs typeface="Calibri" pitchFamily="34" charset="-120"/>
              </a:rPr>
              <a:t>Uncovering spending patterns, customer segments, and subscription behavior across 3,900 transactions to guide strategic business decisions.</a:t>
            </a:r>
            <a:endParaRPr lang="en-US" sz="1500" dirty="0"/>
          </a:p>
        </p:txBody>
      </p:sp>
      <p:sp>
        <p:nvSpPr>
          <p:cNvPr id="8" name="Text 6"/>
          <p:cNvSpPr/>
          <p:nvPr/>
        </p:nvSpPr>
        <p:spPr>
          <a:xfrm>
            <a:off x="822960" y="5257800"/>
            <a:ext cx="219456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3,900</a:t>
            </a:r>
            <a:endParaRPr lang="en-US" sz="2800" dirty="0"/>
          </a:p>
        </p:txBody>
      </p:sp>
      <p:sp>
        <p:nvSpPr>
          <p:cNvPr id="9" name="Text 7"/>
          <p:cNvSpPr/>
          <p:nvPr/>
        </p:nvSpPr>
        <p:spPr>
          <a:xfrm>
            <a:off x="822960" y="5779008"/>
            <a:ext cx="2194560" cy="274320"/>
          </a:xfrm>
          <a:prstGeom prst="rect">
            <a:avLst/>
          </a:prstGeom>
          <a:noFill/>
          <a:ln/>
        </p:spPr>
        <p:txBody>
          <a:bodyPr wrap="square" lIns="0" tIns="0" rIns="0" bIns="0" rtlCol="0" anchor="ctr"/>
          <a:lstStyle/>
          <a:p>
            <a:pPr indent="0" marL="0">
              <a:buNone/>
            </a:pPr>
            <a:r>
              <a:rPr lang="en-US" sz="1050" spc="100" kern="0" dirty="0">
                <a:solidFill>
                  <a:srgbClr val="EAF3F7"/>
                </a:solidFill>
                <a:latin typeface="Calibri" pitchFamily="34" charset="0"/>
                <a:ea typeface="Calibri" pitchFamily="34" charset="-122"/>
                <a:cs typeface="Calibri" pitchFamily="34" charset="-120"/>
              </a:rPr>
              <a:t>TRANSACTIONS</a:t>
            </a:r>
            <a:endParaRPr lang="en-US" sz="1050" dirty="0"/>
          </a:p>
        </p:txBody>
      </p:sp>
      <p:sp>
        <p:nvSpPr>
          <p:cNvPr id="10" name="Text 8"/>
          <p:cNvSpPr/>
          <p:nvPr/>
        </p:nvSpPr>
        <p:spPr>
          <a:xfrm>
            <a:off x="3154680" y="5257800"/>
            <a:ext cx="219456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18</a:t>
            </a:r>
            <a:endParaRPr lang="en-US" sz="2800" dirty="0"/>
          </a:p>
        </p:txBody>
      </p:sp>
      <p:sp>
        <p:nvSpPr>
          <p:cNvPr id="11" name="Text 9"/>
          <p:cNvSpPr/>
          <p:nvPr/>
        </p:nvSpPr>
        <p:spPr>
          <a:xfrm>
            <a:off x="3154680" y="5779008"/>
            <a:ext cx="2194560" cy="274320"/>
          </a:xfrm>
          <a:prstGeom prst="rect">
            <a:avLst/>
          </a:prstGeom>
          <a:noFill/>
          <a:ln/>
        </p:spPr>
        <p:txBody>
          <a:bodyPr wrap="square" lIns="0" tIns="0" rIns="0" bIns="0" rtlCol="0" anchor="ctr"/>
          <a:lstStyle/>
          <a:p>
            <a:pPr indent="0" marL="0">
              <a:buNone/>
            </a:pPr>
            <a:r>
              <a:rPr lang="en-US" sz="1050" spc="100" kern="0" dirty="0">
                <a:solidFill>
                  <a:srgbClr val="EAF3F7"/>
                </a:solidFill>
                <a:latin typeface="Calibri" pitchFamily="34" charset="0"/>
                <a:ea typeface="Calibri" pitchFamily="34" charset="-122"/>
                <a:cs typeface="Calibri" pitchFamily="34" charset="-120"/>
              </a:rPr>
              <a:t>DATA FEATURES</a:t>
            </a:r>
            <a:endParaRPr lang="en-US" sz="1050" dirty="0"/>
          </a:p>
        </p:txBody>
      </p:sp>
      <p:sp>
        <p:nvSpPr>
          <p:cNvPr id="12" name="Text 10"/>
          <p:cNvSpPr/>
          <p:nvPr/>
        </p:nvSpPr>
        <p:spPr>
          <a:xfrm>
            <a:off x="5486400" y="5257800"/>
            <a:ext cx="219456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13" name="Text 11"/>
          <p:cNvSpPr/>
          <p:nvPr/>
        </p:nvSpPr>
        <p:spPr>
          <a:xfrm>
            <a:off x="5486400" y="5779008"/>
            <a:ext cx="2194560" cy="274320"/>
          </a:xfrm>
          <a:prstGeom prst="rect">
            <a:avLst/>
          </a:prstGeom>
          <a:noFill/>
          <a:ln/>
        </p:spPr>
        <p:txBody>
          <a:bodyPr wrap="square" lIns="0" tIns="0" rIns="0" bIns="0" rtlCol="0" anchor="ctr"/>
          <a:lstStyle/>
          <a:p>
            <a:pPr indent="0" marL="0">
              <a:buNone/>
            </a:pPr>
            <a:r>
              <a:rPr lang="en-US" sz="1050" spc="100" kern="0" dirty="0">
                <a:solidFill>
                  <a:srgbClr val="EAF3F7"/>
                </a:solidFill>
                <a:latin typeface="Calibri" pitchFamily="34" charset="0"/>
                <a:ea typeface="Calibri" pitchFamily="34" charset="-122"/>
                <a:cs typeface="Calibri" pitchFamily="34" charset="-120"/>
              </a:rPr>
              <a:t>PRODUCT CATEGORIES</a:t>
            </a:r>
            <a:endParaRPr lang="en-US" sz="1050" dirty="0"/>
          </a:p>
        </p:txBody>
      </p:sp>
      <p:sp>
        <p:nvSpPr>
          <p:cNvPr id="14" name="Text 12"/>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640080" y="749808"/>
            <a:ext cx="7772400" cy="54864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What this analysis set out to do</a:t>
            </a:r>
            <a:endParaRPr lang="en-US" sz="2800" dirty="0"/>
          </a:p>
        </p:txBody>
      </p:sp>
      <p:sp>
        <p:nvSpPr>
          <p:cNvPr id="4" name="Text 2"/>
          <p:cNvSpPr/>
          <p:nvPr/>
        </p:nvSpPr>
        <p:spPr>
          <a:xfrm>
            <a:off x="640080" y="1600200"/>
            <a:ext cx="5577840" cy="2011680"/>
          </a:xfrm>
          <a:prstGeom prst="rect">
            <a:avLst/>
          </a:prstGeom>
          <a:noFill/>
          <a:ln/>
        </p:spPr>
        <p:txBody>
          <a:bodyPr wrap="square" rtlCol="0" anchor="ctr"/>
          <a:lstStyle/>
          <a:p>
            <a:pPr indent="0" marL="0">
              <a:lnSpc>
                <a:spcPts val="2400"/>
              </a:lnSpc>
              <a:buNone/>
            </a:pPr>
            <a:r>
              <a:rPr lang="en-US" sz="1500" dirty="0">
                <a:solidFill>
                  <a:srgbClr val="1B2430"/>
                </a:solidFill>
                <a:latin typeface="Calibri" pitchFamily="34" charset="0"/>
                <a:ea typeface="Calibri" pitchFamily="34" charset="-122"/>
                <a:cs typeface="Calibri" pitchFamily="34" charset="-120"/>
              </a:rPr>
              <a:t>This project analyzes customer shopping behavior using transactional data from 3,900 purchases across various product categories. The goal is to uncover insights into spending patterns, customer segments, product preferences, and subscription behavior to guide strategic business decisions.</a:t>
            </a:r>
            <a:endParaRPr lang="en-US" sz="1500" dirty="0"/>
          </a:p>
        </p:txBody>
      </p:sp>
      <p:sp>
        <p:nvSpPr>
          <p:cNvPr id="5" name="Shape 3"/>
          <p:cNvSpPr/>
          <p:nvPr/>
        </p:nvSpPr>
        <p:spPr>
          <a:xfrm>
            <a:off x="640080" y="3794760"/>
            <a:ext cx="2651760" cy="1188720"/>
          </a:xfrm>
          <a:prstGeom prst="roundRect">
            <a:avLst>
              <a:gd name="adj" fmla="val 6154"/>
            </a:avLst>
          </a:prstGeom>
          <a:solidFill>
            <a:srgbClr val="EAF3F7"/>
          </a:solidFill>
          <a:ln/>
        </p:spPr>
      </p:sp>
      <p:sp>
        <p:nvSpPr>
          <p:cNvPr id="6" name="Text 4"/>
          <p:cNvSpPr/>
          <p:nvPr/>
        </p:nvSpPr>
        <p:spPr>
          <a:xfrm>
            <a:off x="804672" y="3904488"/>
            <a:ext cx="233172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Spending Patterns</a:t>
            </a:r>
            <a:endParaRPr lang="en-US" sz="1300" dirty="0"/>
          </a:p>
        </p:txBody>
      </p:sp>
      <p:sp>
        <p:nvSpPr>
          <p:cNvPr id="7" name="Text 5"/>
          <p:cNvSpPr/>
          <p:nvPr/>
        </p:nvSpPr>
        <p:spPr>
          <a:xfrm>
            <a:off x="804672" y="4233672"/>
            <a:ext cx="2331720" cy="685800"/>
          </a:xfrm>
          <a:prstGeom prst="rect">
            <a:avLst/>
          </a:prstGeom>
          <a:noFill/>
          <a:ln/>
        </p:spPr>
        <p:txBody>
          <a:bodyPr wrap="square" lIns="0" tIns="0" rIns="0" bIns="0" rtlCol="0" anchor="ctr"/>
          <a:lstStyle/>
          <a:p>
            <a:pPr indent="0" marL="0">
              <a:lnSpc>
                <a:spcPts val="1300"/>
              </a:lnSpc>
              <a:buNone/>
            </a:pPr>
            <a:r>
              <a:rPr lang="en-US" sz="1050" dirty="0">
                <a:solidFill>
                  <a:srgbClr val="5C7080"/>
                </a:solidFill>
                <a:latin typeface="Calibri" pitchFamily="34" charset="0"/>
                <a:ea typeface="Calibri" pitchFamily="34" charset="-122"/>
                <a:cs typeface="Calibri" pitchFamily="34" charset="-120"/>
              </a:rPr>
              <a:t>How much, how often, and through which channels customers buy.</a:t>
            </a:r>
            <a:endParaRPr lang="en-US" sz="1050" dirty="0"/>
          </a:p>
        </p:txBody>
      </p:sp>
      <p:sp>
        <p:nvSpPr>
          <p:cNvPr id="8" name="Shape 6"/>
          <p:cNvSpPr/>
          <p:nvPr/>
        </p:nvSpPr>
        <p:spPr>
          <a:xfrm>
            <a:off x="3520440" y="3794760"/>
            <a:ext cx="2651760" cy="1188720"/>
          </a:xfrm>
          <a:prstGeom prst="roundRect">
            <a:avLst>
              <a:gd name="adj" fmla="val 6154"/>
            </a:avLst>
          </a:prstGeom>
          <a:solidFill>
            <a:srgbClr val="EAF3F7"/>
          </a:solidFill>
          <a:ln/>
        </p:spPr>
      </p:sp>
      <p:sp>
        <p:nvSpPr>
          <p:cNvPr id="9" name="Text 7"/>
          <p:cNvSpPr/>
          <p:nvPr/>
        </p:nvSpPr>
        <p:spPr>
          <a:xfrm>
            <a:off x="3685032" y="3904488"/>
            <a:ext cx="233172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Customer Segments</a:t>
            </a:r>
            <a:endParaRPr lang="en-US" sz="1300" dirty="0"/>
          </a:p>
        </p:txBody>
      </p:sp>
      <p:sp>
        <p:nvSpPr>
          <p:cNvPr id="10" name="Text 8"/>
          <p:cNvSpPr/>
          <p:nvPr/>
        </p:nvSpPr>
        <p:spPr>
          <a:xfrm>
            <a:off x="3685032" y="4233672"/>
            <a:ext cx="2331720" cy="685800"/>
          </a:xfrm>
          <a:prstGeom prst="rect">
            <a:avLst/>
          </a:prstGeom>
          <a:noFill/>
          <a:ln/>
        </p:spPr>
        <p:txBody>
          <a:bodyPr wrap="square" lIns="0" tIns="0" rIns="0" bIns="0" rtlCol="0" anchor="ctr"/>
          <a:lstStyle/>
          <a:p>
            <a:pPr indent="0" marL="0">
              <a:lnSpc>
                <a:spcPts val="1300"/>
              </a:lnSpc>
              <a:buNone/>
            </a:pPr>
            <a:r>
              <a:rPr lang="en-US" sz="1050" dirty="0">
                <a:solidFill>
                  <a:srgbClr val="5C7080"/>
                </a:solidFill>
                <a:latin typeface="Calibri" pitchFamily="34" charset="0"/>
                <a:ea typeface="Calibri" pitchFamily="34" charset="-122"/>
                <a:cs typeface="Calibri" pitchFamily="34" charset="-120"/>
              </a:rPr>
              <a:t>Grouping shoppers into New, Returning, and Loyal profiles.</a:t>
            </a:r>
            <a:endParaRPr lang="en-US" sz="1050" dirty="0"/>
          </a:p>
        </p:txBody>
      </p:sp>
      <p:sp>
        <p:nvSpPr>
          <p:cNvPr id="11" name="Shape 9"/>
          <p:cNvSpPr/>
          <p:nvPr/>
        </p:nvSpPr>
        <p:spPr>
          <a:xfrm>
            <a:off x="640080" y="5166360"/>
            <a:ext cx="2651760" cy="1188720"/>
          </a:xfrm>
          <a:prstGeom prst="roundRect">
            <a:avLst>
              <a:gd name="adj" fmla="val 6154"/>
            </a:avLst>
          </a:prstGeom>
          <a:solidFill>
            <a:srgbClr val="EAF3F7"/>
          </a:solidFill>
          <a:ln/>
        </p:spPr>
      </p:sp>
      <p:sp>
        <p:nvSpPr>
          <p:cNvPr id="12" name="Text 10"/>
          <p:cNvSpPr/>
          <p:nvPr/>
        </p:nvSpPr>
        <p:spPr>
          <a:xfrm>
            <a:off x="804672" y="5276088"/>
            <a:ext cx="233172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Product Preferences</a:t>
            </a:r>
            <a:endParaRPr lang="en-US" sz="1300" dirty="0"/>
          </a:p>
        </p:txBody>
      </p:sp>
      <p:sp>
        <p:nvSpPr>
          <p:cNvPr id="13" name="Text 11"/>
          <p:cNvSpPr/>
          <p:nvPr/>
        </p:nvSpPr>
        <p:spPr>
          <a:xfrm>
            <a:off x="804672" y="5605272"/>
            <a:ext cx="2331720" cy="685800"/>
          </a:xfrm>
          <a:prstGeom prst="rect">
            <a:avLst/>
          </a:prstGeom>
          <a:noFill/>
          <a:ln/>
        </p:spPr>
        <p:txBody>
          <a:bodyPr wrap="square" lIns="0" tIns="0" rIns="0" bIns="0" rtlCol="0" anchor="ctr"/>
          <a:lstStyle/>
          <a:p>
            <a:pPr indent="0" marL="0">
              <a:lnSpc>
                <a:spcPts val="1300"/>
              </a:lnSpc>
              <a:buNone/>
            </a:pPr>
            <a:r>
              <a:rPr lang="en-US" sz="1050" dirty="0">
                <a:solidFill>
                  <a:srgbClr val="5C7080"/>
                </a:solidFill>
                <a:latin typeface="Calibri" pitchFamily="34" charset="0"/>
                <a:ea typeface="Calibri" pitchFamily="34" charset="-122"/>
                <a:cs typeface="Calibri" pitchFamily="34" charset="-120"/>
              </a:rPr>
              <a:t>Which categories and items perform best by rating and volume.</a:t>
            </a:r>
            <a:endParaRPr lang="en-US" sz="1050" dirty="0"/>
          </a:p>
        </p:txBody>
      </p:sp>
      <p:sp>
        <p:nvSpPr>
          <p:cNvPr id="14" name="Shape 12"/>
          <p:cNvSpPr/>
          <p:nvPr/>
        </p:nvSpPr>
        <p:spPr>
          <a:xfrm>
            <a:off x="3520440" y="5166360"/>
            <a:ext cx="2651760" cy="1188720"/>
          </a:xfrm>
          <a:prstGeom prst="roundRect">
            <a:avLst>
              <a:gd name="adj" fmla="val 6154"/>
            </a:avLst>
          </a:prstGeom>
          <a:solidFill>
            <a:srgbClr val="EAF3F7"/>
          </a:solidFill>
          <a:ln/>
        </p:spPr>
      </p:sp>
      <p:sp>
        <p:nvSpPr>
          <p:cNvPr id="15" name="Text 13"/>
          <p:cNvSpPr/>
          <p:nvPr/>
        </p:nvSpPr>
        <p:spPr>
          <a:xfrm>
            <a:off x="3685032" y="5276088"/>
            <a:ext cx="233172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Subscription Behavior</a:t>
            </a:r>
            <a:endParaRPr lang="en-US" sz="1300" dirty="0"/>
          </a:p>
        </p:txBody>
      </p:sp>
      <p:sp>
        <p:nvSpPr>
          <p:cNvPr id="16" name="Text 14"/>
          <p:cNvSpPr/>
          <p:nvPr/>
        </p:nvSpPr>
        <p:spPr>
          <a:xfrm>
            <a:off x="3685032" y="5605272"/>
            <a:ext cx="2331720" cy="685800"/>
          </a:xfrm>
          <a:prstGeom prst="rect">
            <a:avLst/>
          </a:prstGeom>
          <a:noFill/>
          <a:ln/>
        </p:spPr>
        <p:txBody>
          <a:bodyPr wrap="square" lIns="0" tIns="0" rIns="0" bIns="0" rtlCol="0" anchor="ctr"/>
          <a:lstStyle/>
          <a:p>
            <a:pPr indent="0" marL="0">
              <a:lnSpc>
                <a:spcPts val="1300"/>
              </a:lnSpc>
              <a:buNone/>
            </a:pPr>
            <a:r>
              <a:rPr lang="en-US" sz="1050" dirty="0">
                <a:solidFill>
                  <a:srgbClr val="5C7080"/>
                </a:solidFill>
                <a:latin typeface="Calibri" pitchFamily="34" charset="0"/>
                <a:ea typeface="Calibri" pitchFamily="34" charset="-122"/>
                <a:cs typeface="Calibri" pitchFamily="34" charset="-120"/>
              </a:rPr>
              <a:t>How subscribers and non-subscribers differ in value.</a:t>
            </a:r>
            <a:endParaRPr lang="en-US" sz="1050" dirty="0"/>
          </a:p>
        </p:txBody>
      </p:sp>
      <p:sp>
        <p:nvSpPr>
          <p:cNvPr id="17" name="Shape 15"/>
          <p:cNvSpPr/>
          <p:nvPr/>
        </p:nvSpPr>
        <p:spPr>
          <a:xfrm>
            <a:off x="6720840" y="1600200"/>
            <a:ext cx="4846320" cy="4480560"/>
          </a:xfrm>
          <a:prstGeom prst="roundRect">
            <a:avLst>
              <a:gd name="adj" fmla="val 2041"/>
            </a:avLst>
          </a:prstGeom>
          <a:solidFill>
            <a:srgbClr val="21295C"/>
          </a:solidFill>
          <a:ln/>
        </p:spPr>
      </p:sp>
      <p:sp>
        <p:nvSpPr>
          <p:cNvPr id="18" name="Text 16"/>
          <p:cNvSpPr/>
          <p:nvPr/>
        </p:nvSpPr>
        <p:spPr>
          <a:xfrm>
            <a:off x="7040880" y="1828800"/>
            <a:ext cx="4206240" cy="274320"/>
          </a:xfrm>
          <a:prstGeom prst="rect">
            <a:avLst/>
          </a:prstGeom>
          <a:noFill/>
          <a:ln/>
        </p:spPr>
        <p:txBody>
          <a:bodyPr wrap="square" rtlCol="0" anchor="ctr"/>
          <a:lstStyle/>
          <a:p>
            <a:pPr indent="0" marL="0">
              <a:buNone/>
            </a:pPr>
            <a:r>
              <a:rPr lang="en-US" sz="1100" b="1" spc="200" kern="0" dirty="0">
                <a:solidFill>
                  <a:srgbClr val="F2A541"/>
                </a:solidFill>
                <a:latin typeface="Calibri" pitchFamily="34" charset="0"/>
                <a:ea typeface="Calibri" pitchFamily="34" charset="-122"/>
                <a:cs typeface="Calibri" pitchFamily="34" charset="-120"/>
              </a:rPr>
              <a:t>ANALYSIS PIPELINE</a:t>
            </a:r>
            <a:endParaRPr lang="en-US" sz="1100" dirty="0"/>
          </a:p>
        </p:txBody>
      </p:sp>
      <p:sp>
        <p:nvSpPr>
          <p:cNvPr id="19" name="Shape 17"/>
          <p:cNvSpPr/>
          <p:nvPr/>
        </p:nvSpPr>
        <p:spPr>
          <a:xfrm>
            <a:off x="7040880" y="2286000"/>
            <a:ext cx="384048" cy="384048"/>
          </a:xfrm>
          <a:prstGeom prst="ellipse">
            <a:avLst/>
          </a:prstGeom>
          <a:solidFill>
            <a:srgbClr val="1C7293"/>
          </a:solidFill>
          <a:ln/>
        </p:spPr>
      </p:sp>
      <p:sp>
        <p:nvSpPr>
          <p:cNvPr id="20" name="Text 18"/>
          <p:cNvSpPr/>
          <p:nvPr/>
        </p:nvSpPr>
        <p:spPr>
          <a:xfrm>
            <a:off x="7040880" y="2286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1" name="Text 19"/>
          <p:cNvSpPr/>
          <p:nvPr/>
        </p:nvSpPr>
        <p:spPr>
          <a:xfrm>
            <a:off x="7589520" y="2304288"/>
            <a:ext cx="365760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Data Cleaning (Python)</a:t>
            </a:r>
            <a:endParaRPr lang="en-US" sz="1350" dirty="0"/>
          </a:p>
        </p:txBody>
      </p:sp>
      <p:sp>
        <p:nvSpPr>
          <p:cNvPr id="22" name="Shape 20"/>
          <p:cNvSpPr/>
          <p:nvPr/>
        </p:nvSpPr>
        <p:spPr>
          <a:xfrm>
            <a:off x="7232904" y="2670048"/>
            <a:ext cx="0" cy="384048"/>
          </a:xfrm>
          <a:prstGeom prst="line">
            <a:avLst/>
          </a:prstGeom>
          <a:noFill/>
          <a:ln w="19050">
            <a:solidFill>
              <a:srgbClr val="1C7293"/>
            </a:solidFill>
            <a:prstDash val="dash"/>
          </a:ln>
        </p:spPr>
      </p:sp>
      <p:sp>
        <p:nvSpPr>
          <p:cNvPr id="23" name="Shape 21"/>
          <p:cNvSpPr/>
          <p:nvPr/>
        </p:nvSpPr>
        <p:spPr>
          <a:xfrm>
            <a:off x="7040880" y="3072384"/>
            <a:ext cx="384048" cy="384048"/>
          </a:xfrm>
          <a:prstGeom prst="ellipse">
            <a:avLst/>
          </a:prstGeom>
          <a:solidFill>
            <a:srgbClr val="1C7293"/>
          </a:solidFill>
          <a:ln/>
        </p:spPr>
      </p:sp>
      <p:sp>
        <p:nvSpPr>
          <p:cNvPr id="24" name="Text 22"/>
          <p:cNvSpPr/>
          <p:nvPr/>
        </p:nvSpPr>
        <p:spPr>
          <a:xfrm>
            <a:off x="7040880" y="30723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5" name="Text 23"/>
          <p:cNvSpPr/>
          <p:nvPr/>
        </p:nvSpPr>
        <p:spPr>
          <a:xfrm>
            <a:off x="7589520" y="3090672"/>
            <a:ext cx="365760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Feature Engineering</a:t>
            </a:r>
            <a:endParaRPr lang="en-US" sz="1350" dirty="0"/>
          </a:p>
        </p:txBody>
      </p:sp>
      <p:sp>
        <p:nvSpPr>
          <p:cNvPr id="26" name="Shape 24"/>
          <p:cNvSpPr/>
          <p:nvPr/>
        </p:nvSpPr>
        <p:spPr>
          <a:xfrm>
            <a:off x="7232904" y="3456432"/>
            <a:ext cx="0" cy="384048"/>
          </a:xfrm>
          <a:prstGeom prst="line">
            <a:avLst/>
          </a:prstGeom>
          <a:noFill/>
          <a:ln w="19050">
            <a:solidFill>
              <a:srgbClr val="1C7293"/>
            </a:solidFill>
            <a:prstDash val="dash"/>
          </a:ln>
        </p:spPr>
      </p:sp>
      <p:sp>
        <p:nvSpPr>
          <p:cNvPr id="27" name="Shape 25"/>
          <p:cNvSpPr/>
          <p:nvPr/>
        </p:nvSpPr>
        <p:spPr>
          <a:xfrm>
            <a:off x="7040880" y="3858768"/>
            <a:ext cx="384048" cy="384048"/>
          </a:xfrm>
          <a:prstGeom prst="ellipse">
            <a:avLst/>
          </a:prstGeom>
          <a:solidFill>
            <a:srgbClr val="1C7293"/>
          </a:solidFill>
          <a:ln/>
        </p:spPr>
      </p:sp>
      <p:sp>
        <p:nvSpPr>
          <p:cNvPr id="28" name="Text 26"/>
          <p:cNvSpPr/>
          <p:nvPr/>
        </p:nvSpPr>
        <p:spPr>
          <a:xfrm>
            <a:off x="7040880" y="3858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9" name="Text 27"/>
          <p:cNvSpPr/>
          <p:nvPr/>
        </p:nvSpPr>
        <p:spPr>
          <a:xfrm>
            <a:off x="7589520" y="3877056"/>
            <a:ext cx="365760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SQL Business Queries</a:t>
            </a:r>
            <a:endParaRPr lang="en-US" sz="1350" dirty="0"/>
          </a:p>
        </p:txBody>
      </p:sp>
      <p:sp>
        <p:nvSpPr>
          <p:cNvPr id="30" name="Shape 28"/>
          <p:cNvSpPr/>
          <p:nvPr/>
        </p:nvSpPr>
        <p:spPr>
          <a:xfrm>
            <a:off x="7232904" y="4242816"/>
            <a:ext cx="0" cy="384048"/>
          </a:xfrm>
          <a:prstGeom prst="line">
            <a:avLst/>
          </a:prstGeom>
          <a:noFill/>
          <a:ln w="19050">
            <a:solidFill>
              <a:srgbClr val="1C7293"/>
            </a:solidFill>
            <a:prstDash val="dash"/>
          </a:ln>
        </p:spPr>
      </p:sp>
      <p:sp>
        <p:nvSpPr>
          <p:cNvPr id="31" name="Shape 29"/>
          <p:cNvSpPr/>
          <p:nvPr/>
        </p:nvSpPr>
        <p:spPr>
          <a:xfrm>
            <a:off x="7040880" y="4645152"/>
            <a:ext cx="384048" cy="384048"/>
          </a:xfrm>
          <a:prstGeom prst="ellipse">
            <a:avLst/>
          </a:prstGeom>
          <a:solidFill>
            <a:srgbClr val="1C7293"/>
          </a:solidFill>
          <a:ln/>
        </p:spPr>
      </p:sp>
      <p:sp>
        <p:nvSpPr>
          <p:cNvPr id="32" name="Text 30"/>
          <p:cNvSpPr/>
          <p:nvPr/>
        </p:nvSpPr>
        <p:spPr>
          <a:xfrm>
            <a:off x="7040880" y="46451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3" name="Text 31"/>
          <p:cNvSpPr/>
          <p:nvPr/>
        </p:nvSpPr>
        <p:spPr>
          <a:xfrm>
            <a:off x="7589520" y="4663440"/>
            <a:ext cx="365760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Power BI Dashboard</a:t>
            </a:r>
            <a:endParaRPr lang="en-US" sz="1350" dirty="0"/>
          </a:p>
        </p:txBody>
      </p:sp>
      <p:sp>
        <p:nvSpPr>
          <p:cNvPr id="34" name="Shape 32"/>
          <p:cNvSpPr/>
          <p:nvPr/>
        </p:nvSpPr>
        <p:spPr>
          <a:xfrm>
            <a:off x="7232904" y="5029200"/>
            <a:ext cx="0" cy="384048"/>
          </a:xfrm>
          <a:prstGeom prst="line">
            <a:avLst/>
          </a:prstGeom>
          <a:noFill/>
          <a:ln w="19050">
            <a:solidFill>
              <a:srgbClr val="1C7293"/>
            </a:solidFill>
            <a:prstDash val="dash"/>
          </a:ln>
        </p:spPr>
      </p:sp>
      <p:sp>
        <p:nvSpPr>
          <p:cNvPr id="35" name="Shape 33"/>
          <p:cNvSpPr/>
          <p:nvPr/>
        </p:nvSpPr>
        <p:spPr>
          <a:xfrm>
            <a:off x="7040880" y="5431536"/>
            <a:ext cx="384048" cy="384048"/>
          </a:xfrm>
          <a:prstGeom prst="ellipse">
            <a:avLst/>
          </a:prstGeom>
          <a:solidFill>
            <a:srgbClr val="1C7293"/>
          </a:solidFill>
          <a:ln/>
        </p:spPr>
      </p:sp>
      <p:sp>
        <p:nvSpPr>
          <p:cNvPr id="36" name="Text 34"/>
          <p:cNvSpPr/>
          <p:nvPr/>
        </p:nvSpPr>
        <p:spPr>
          <a:xfrm>
            <a:off x="7040880" y="54315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7" name="Text 35"/>
          <p:cNvSpPr/>
          <p:nvPr/>
        </p:nvSpPr>
        <p:spPr>
          <a:xfrm>
            <a:off x="7589520" y="5449824"/>
            <a:ext cx="365760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Strategic Recommendations</a:t>
            </a:r>
            <a:endParaRPr lang="en-US" sz="1350" dirty="0"/>
          </a:p>
        </p:txBody>
      </p:sp>
      <p:sp>
        <p:nvSpPr>
          <p:cNvPr id="38" name="Text 36"/>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DATASET SUMMARY</a:t>
            </a:r>
            <a:endParaRPr lang="en-US" sz="1200" dirty="0"/>
          </a:p>
        </p:txBody>
      </p:sp>
      <p:sp>
        <p:nvSpPr>
          <p:cNvPr id="3" name="Text 1"/>
          <p:cNvSpPr/>
          <p:nvPr/>
        </p:nvSpPr>
        <p:spPr>
          <a:xfrm>
            <a:off x="640080" y="749808"/>
            <a:ext cx="8229600" cy="54864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3,900 rows across 18 features</a:t>
            </a:r>
            <a:endParaRPr lang="en-US" sz="2800" dirty="0"/>
          </a:p>
        </p:txBody>
      </p:sp>
      <p:sp>
        <p:nvSpPr>
          <p:cNvPr id="4" name="Shape 2"/>
          <p:cNvSpPr/>
          <p:nvPr/>
        </p:nvSpPr>
        <p:spPr>
          <a:xfrm>
            <a:off x="640080" y="1554480"/>
            <a:ext cx="2331720" cy="1417320"/>
          </a:xfrm>
          <a:prstGeom prst="roundRect">
            <a:avLst>
              <a:gd name="adj" fmla="val 5161"/>
            </a:avLst>
          </a:prstGeom>
          <a:solidFill>
            <a:srgbClr val="EAF3F7"/>
          </a:solidFill>
          <a:ln/>
        </p:spPr>
      </p:sp>
      <p:sp>
        <p:nvSpPr>
          <p:cNvPr id="5" name="Text 3"/>
          <p:cNvSpPr/>
          <p:nvPr/>
        </p:nvSpPr>
        <p:spPr>
          <a:xfrm>
            <a:off x="640080" y="1664208"/>
            <a:ext cx="2331720" cy="685800"/>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3,900</a:t>
            </a:r>
            <a:endParaRPr lang="en-US" sz="3400" dirty="0"/>
          </a:p>
        </p:txBody>
      </p:sp>
      <p:sp>
        <p:nvSpPr>
          <p:cNvPr id="6" name="Text 4"/>
          <p:cNvSpPr/>
          <p:nvPr/>
        </p:nvSpPr>
        <p:spPr>
          <a:xfrm>
            <a:off x="731520" y="2395728"/>
            <a:ext cx="2148840" cy="457200"/>
          </a:xfrm>
          <a:prstGeom prst="rect">
            <a:avLst/>
          </a:prstGeom>
          <a:noFill/>
          <a:ln/>
        </p:spPr>
        <p:txBody>
          <a:bodyPr wrap="square" lIns="0" tIns="0" rIns="0" bIns="0" rtlCol="0" anchor="ctr"/>
          <a:lstStyle/>
          <a:p>
            <a:pPr algn="ctr" indent="0" marL="0">
              <a:lnSpc>
                <a:spcPts val="1200"/>
              </a:lnSpc>
              <a:buNone/>
            </a:pPr>
            <a:r>
              <a:rPr lang="en-US" sz="1000" spc="50" kern="0" dirty="0">
                <a:solidFill>
                  <a:srgbClr val="5C7080"/>
                </a:solidFill>
                <a:latin typeface="Calibri" pitchFamily="34" charset="0"/>
                <a:ea typeface="Calibri" pitchFamily="34" charset="-122"/>
                <a:cs typeface="Calibri" pitchFamily="34" charset="-120"/>
              </a:rPr>
              <a:t>ROWS</a:t>
            </a:r>
            <a:endParaRPr lang="en-US" sz="1000" dirty="0"/>
          </a:p>
        </p:txBody>
      </p:sp>
      <p:sp>
        <p:nvSpPr>
          <p:cNvPr id="7" name="Shape 5"/>
          <p:cNvSpPr/>
          <p:nvPr/>
        </p:nvSpPr>
        <p:spPr>
          <a:xfrm>
            <a:off x="3154680" y="1554480"/>
            <a:ext cx="2331720" cy="1417320"/>
          </a:xfrm>
          <a:prstGeom prst="roundRect">
            <a:avLst>
              <a:gd name="adj" fmla="val 5161"/>
            </a:avLst>
          </a:prstGeom>
          <a:solidFill>
            <a:srgbClr val="EAF3F7"/>
          </a:solidFill>
          <a:ln/>
        </p:spPr>
      </p:sp>
      <p:sp>
        <p:nvSpPr>
          <p:cNvPr id="8" name="Text 6"/>
          <p:cNvSpPr/>
          <p:nvPr/>
        </p:nvSpPr>
        <p:spPr>
          <a:xfrm>
            <a:off x="3154680" y="1664208"/>
            <a:ext cx="2331720" cy="685800"/>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18</a:t>
            </a:r>
            <a:endParaRPr lang="en-US" sz="3400" dirty="0"/>
          </a:p>
        </p:txBody>
      </p:sp>
      <p:sp>
        <p:nvSpPr>
          <p:cNvPr id="9" name="Text 7"/>
          <p:cNvSpPr/>
          <p:nvPr/>
        </p:nvSpPr>
        <p:spPr>
          <a:xfrm>
            <a:off x="3246120" y="2395728"/>
            <a:ext cx="2148840" cy="457200"/>
          </a:xfrm>
          <a:prstGeom prst="rect">
            <a:avLst/>
          </a:prstGeom>
          <a:noFill/>
          <a:ln/>
        </p:spPr>
        <p:txBody>
          <a:bodyPr wrap="square" lIns="0" tIns="0" rIns="0" bIns="0" rtlCol="0" anchor="ctr"/>
          <a:lstStyle/>
          <a:p>
            <a:pPr algn="ctr" indent="0" marL="0">
              <a:lnSpc>
                <a:spcPts val="1200"/>
              </a:lnSpc>
              <a:buNone/>
            </a:pPr>
            <a:r>
              <a:rPr lang="en-US" sz="1000" spc="50" kern="0" dirty="0">
                <a:solidFill>
                  <a:srgbClr val="5C7080"/>
                </a:solidFill>
                <a:latin typeface="Calibri" pitchFamily="34" charset="0"/>
                <a:ea typeface="Calibri" pitchFamily="34" charset="-122"/>
                <a:cs typeface="Calibri" pitchFamily="34" charset="-120"/>
              </a:rPr>
              <a:t>COLUMNS</a:t>
            </a:r>
            <a:endParaRPr lang="en-US" sz="1000" dirty="0"/>
          </a:p>
        </p:txBody>
      </p:sp>
      <p:sp>
        <p:nvSpPr>
          <p:cNvPr id="10" name="Shape 8"/>
          <p:cNvSpPr/>
          <p:nvPr/>
        </p:nvSpPr>
        <p:spPr>
          <a:xfrm>
            <a:off x="5669280" y="1554480"/>
            <a:ext cx="2331720" cy="1417320"/>
          </a:xfrm>
          <a:prstGeom prst="roundRect">
            <a:avLst>
              <a:gd name="adj" fmla="val 5161"/>
            </a:avLst>
          </a:prstGeom>
          <a:solidFill>
            <a:srgbClr val="EAF3F7"/>
          </a:solidFill>
          <a:ln/>
        </p:spPr>
      </p:sp>
      <p:sp>
        <p:nvSpPr>
          <p:cNvPr id="11" name="Text 9"/>
          <p:cNvSpPr/>
          <p:nvPr/>
        </p:nvSpPr>
        <p:spPr>
          <a:xfrm>
            <a:off x="5669280" y="1664208"/>
            <a:ext cx="2331720" cy="685800"/>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37</a:t>
            </a:r>
            <a:endParaRPr lang="en-US" sz="3400" dirty="0"/>
          </a:p>
        </p:txBody>
      </p:sp>
      <p:sp>
        <p:nvSpPr>
          <p:cNvPr id="12" name="Text 10"/>
          <p:cNvSpPr/>
          <p:nvPr/>
        </p:nvSpPr>
        <p:spPr>
          <a:xfrm>
            <a:off x="5760720" y="2395728"/>
            <a:ext cx="2148840" cy="457200"/>
          </a:xfrm>
          <a:prstGeom prst="rect">
            <a:avLst/>
          </a:prstGeom>
          <a:noFill/>
          <a:ln/>
        </p:spPr>
        <p:txBody>
          <a:bodyPr wrap="square" lIns="0" tIns="0" rIns="0" bIns="0" rtlCol="0" anchor="ctr"/>
          <a:lstStyle/>
          <a:p>
            <a:pPr algn="ctr" indent="0" marL="0">
              <a:lnSpc>
                <a:spcPts val="1200"/>
              </a:lnSpc>
              <a:buNone/>
            </a:pPr>
            <a:r>
              <a:rPr lang="en-US" sz="1000" spc="50" kern="0" dirty="0">
                <a:solidFill>
                  <a:srgbClr val="5C7080"/>
                </a:solidFill>
                <a:latin typeface="Calibri" pitchFamily="34" charset="0"/>
                <a:ea typeface="Calibri" pitchFamily="34" charset="-122"/>
                <a:cs typeface="Calibri" pitchFamily="34" charset="-120"/>
              </a:rPr>
              <a:t>MISSING VALUES</a:t>
            </a:r>
            <a:endParaRPr lang="en-US" sz="1000" dirty="0"/>
          </a:p>
          <a:p>
            <a:pPr algn="ctr" indent="0" marL="0">
              <a:lnSpc>
                <a:spcPts val="1200"/>
              </a:lnSpc>
              <a:buNone/>
            </a:pPr>
            <a:r>
              <a:rPr lang="en-US" sz="1000" spc="50" kern="0" dirty="0">
                <a:solidFill>
                  <a:srgbClr val="5C7080"/>
                </a:solidFill>
                <a:latin typeface="Calibri" pitchFamily="34" charset="0"/>
                <a:ea typeface="Calibri" pitchFamily="34" charset="-122"/>
                <a:cs typeface="Calibri" pitchFamily="34" charset="-120"/>
              </a:rPr>
              <a:t>(REVIEW RATING)</a:t>
            </a:r>
            <a:endParaRPr lang="en-US" sz="1000" dirty="0"/>
          </a:p>
        </p:txBody>
      </p:sp>
      <p:sp>
        <p:nvSpPr>
          <p:cNvPr id="13" name="Shape 11"/>
          <p:cNvSpPr/>
          <p:nvPr/>
        </p:nvSpPr>
        <p:spPr>
          <a:xfrm>
            <a:off x="640080" y="3337560"/>
            <a:ext cx="10881360" cy="896112"/>
          </a:xfrm>
          <a:prstGeom prst="roundRect">
            <a:avLst>
              <a:gd name="adj" fmla="val 8163"/>
            </a:avLst>
          </a:prstGeom>
          <a:solidFill>
            <a:srgbClr val="EAF3F7"/>
          </a:solidFill>
          <a:ln/>
        </p:spPr>
      </p:sp>
      <p:sp>
        <p:nvSpPr>
          <p:cNvPr id="14" name="Text 12"/>
          <p:cNvSpPr/>
          <p:nvPr/>
        </p:nvSpPr>
        <p:spPr>
          <a:xfrm>
            <a:off x="960120" y="3429000"/>
            <a:ext cx="2834640" cy="7132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Customer Demographics</a:t>
            </a:r>
            <a:endParaRPr lang="en-US" sz="1350" dirty="0"/>
          </a:p>
        </p:txBody>
      </p:sp>
      <p:sp>
        <p:nvSpPr>
          <p:cNvPr id="15" name="Text 13"/>
          <p:cNvSpPr/>
          <p:nvPr/>
        </p:nvSpPr>
        <p:spPr>
          <a:xfrm>
            <a:off x="3931920" y="3429000"/>
            <a:ext cx="7406640" cy="713232"/>
          </a:xfrm>
          <a:prstGeom prst="rect">
            <a:avLst/>
          </a:prstGeom>
          <a:noFill/>
          <a:ln/>
        </p:spPr>
        <p:txBody>
          <a:bodyPr wrap="square" lIns="0" tIns="0" rIns="0" bIns="0" rtlCol="0" anchor="ctr"/>
          <a:lstStyle/>
          <a:p>
            <a:pPr indent="0" marL="0">
              <a:lnSpc>
                <a:spcPts val="1500"/>
              </a:lnSpc>
              <a:buNone/>
            </a:pPr>
            <a:r>
              <a:rPr lang="en-US" sz="1200" dirty="0">
                <a:solidFill>
                  <a:srgbClr val="1B2430"/>
                </a:solidFill>
                <a:latin typeface="Calibri" pitchFamily="34" charset="0"/>
                <a:ea typeface="Calibri" pitchFamily="34" charset="-122"/>
                <a:cs typeface="Calibri" pitchFamily="34" charset="-120"/>
              </a:rPr>
              <a:t>Age, Gender, Location, Subscription Status</a:t>
            </a:r>
            <a:endParaRPr lang="en-US" sz="1200" dirty="0"/>
          </a:p>
        </p:txBody>
      </p:sp>
      <p:sp>
        <p:nvSpPr>
          <p:cNvPr id="16" name="Shape 14"/>
          <p:cNvSpPr/>
          <p:nvPr/>
        </p:nvSpPr>
        <p:spPr>
          <a:xfrm>
            <a:off x="640080" y="4389120"/>
            <a:ext cx="10881360" cy="896112"/>
          </a:xfrm>
          <a:prstGeom prst="roundRect">
            <a:avLst>
              <a:gd name="adj" fmla="val 8163"/>
            </a:avLst>
          </a:prstGeom>
          <a:solidFill>
            <a:srgbClr val="EAF3F7"/>
          </a:solidFill>
          <a:ln/>
        </p:spPr>
      </p:sp>
      <p:sp>
        <p:nvSpPr>
          <p:cNvPr id="17" name="Text 15"/>
          <p:cNvSpPr/>
          <p:nvPr/>
        </p:nvSpPr>
        <p:spPr>
          <a:xfrm>
            <a:off x="960120" y="4480560"/>
            <a:ext cx="2834640" cy="7132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Purchase Details</a:t>
            </a:r>
            <a:endParaRPr lang="en-US" sz="1350" dirty="0"/>
          </a:p>
        </p:txBody>
      </p:sp>
      <p:sp>
        <p:nvSpPr>
          <p:cNvPr id="18" name="Text 16"/>
          <p:cNvSpPr/>
          <p:nvPr/>
        </p:nvSpPr>
        <p:spPr>
          <a:xfrm>
            <a:off x="3931920" y="4480560"/>
            <a:ext cx="7406640" cy="713232"/>
          </a:xfrm>
          <a:prstGeom prst="rect">
            <a:avLst/>
          </a:prstGeom>
          <a:noFill/>
          <a:ln/>
        </p:spPr>
        <p:txBody>
          <a:bodyPr wrap="square" lIns="0" tIns="0" rIns="0" bIns="0" rtlCol="0" anchor="ctr"/>
          <a:lstStyle/>
          <a:p>
            <a:pPr indent="0" marL="0">
              <a:lnSpc>
                <a:spcPts val="1500"/>
              </a:lnSpc>
              <a:buNone/>
            </a:pPr>
            <a:r>
              <a:rPr lang="en-US" sz="1200" dirty="0">
                <a:solidFill>
                  <a:srgbClr val="1B2430"/>
                </a:solidFill>
                <a:latin typeface="Calibri" pitchFamily="34" charset="0"/>
                <a:ea typeface="Calibri" pitchFamily="34" charset="-122"/>
                <a:cs typeface="Calibri" pitchFamily="34" charset="-120"/>
              </a:rPr>
              <a:t>Item Purchased, Category, Purchase Amount, Season, Size, Color</a:t>
            </a:r>
            <a:endParaRPr lang="en-US" sz="1200" dirty="0"/>
          </a:p>
        </p:txBody>
      </p:sp>
      <p:sp>
        <p:nvSpPr>
          <p:cNvPr id="19" name="Shape 17"/>
          <p:cNvSpPr/>
          <p:nvPr/>
        </p:nvSpPr>
        <p:spPr>
          <a:xfrm>
            <a:off x="640080" y="5440680"/>
            <a:ext cx="10881360" cy="896112"/>
          </a:xfrm>
          <a:prstGeom prst="roundRect">
            <a:avLst>
              <a:gd name="adj" fmla="val 8163"/>
            </a:avLst>
          </a:prstGeom>
          <a:solidFill>
            <a:srgbClr val="EAF3F7"/>
          </a:solidFill>
          <a:ln/>
        </p:spPr>
      </p:sp>
      <p:sp>
        <p:nvSpPr>
          <p:cNvPr id="20" name="Text 18"/>
          <p:cNvSpPr/>
          <p:nvPr/>
        </p:nvSpPr>
        <p:spPr>
          <a:xfrm>
            <a:off x="960120" y="5532120"/>
            <a:ext cx="2834640" cy="7132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Shopping Behavior</a:t>
            </a:r>
            <a:endParaRPr lang="en-US" sz="1350" dirty="0"/>
          </a:p>
        </p:txBody>
      </p:sp>
      <p:sp>
        <p:nvSpPr>
          <p:cNvPr id="21" name="Text 19"/>
          <p:cNvSpPr/>
          <p:nvPr/>
        </p:nvSpPr>
        <p:spPr>
          <a:xfrm>
            <a:off x="3931920" y="5532120"/>
            <a:ext cx="7406640" cy="713232"/>
          </a:xfrm>
          <a:prstGeom prst="rect">
            <a:avLst/>
          </a:prstGeom>
          <a:noFill/>
          <a:ln/>
        </p:spPr>
        <p:txBody>
          <a:bodyPr wrap="square" lIns="0" tIns="0" rIns="0" bIns="0" rtlCol="0" anchor="ctr"/>
          <a:lstStyle/>
          <a:p>
            <a:pPr indent="0" marL="0">
              <a:lnSpc>
                <a:spcPts val="1500"/>
              </a:lnSpc>
              <a:buNone/>
            </a:pPr>
            <a:r>
              <a:rPr lang="en-US" sz="1200" dirty="0">
                <a:solidFill>
                  <a:srgbClr val="1B2430"/>
                </a:solidFill>
                <a:latin typeface="Calibri" pitchFamily="34" charset="0"/>
                <a:ea typeface="Calibri" pitchFamily="34" charset="-122"/>
                <a:cs typeface="Calibri" pitchFamily="34" charset="-120"/>
              </a:rPr>
              <a:t>Discount Applied, Promo Code Used, Previous Purchases, Purchase Frequency, Review Rating, Shipping Type</a:t>
            </a:r>
            <a:endParaRPr lang="en-US" sz="1200" dirty="0"/>
          </a:p>
        </p:txBody>
      </p:sp>
      <p:sp>
        <p:nvSpPr>
          <p:cNvPr id="22" name="Text 20"/>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640080" y="749808"/>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raw data to a query-ready warehouse</a:t>
            </a:r>
            <a:endParaRPr lang="en-US" sz="2800" dirty="0"/>
          </a:p>
        </p:txBody>
      </p:sp>
      <p:sp>
        <p:nvSpPr>
          <p:cNvPr id="4" name="Shape 2"/>
          <p:cNvSpPr/>
          <p:nvPr/>
        </p:nvSpPr>
        <p:spPr>
          <a:xfrm>
            <a:off x="640080" y="1600200"/>
            <a:ext cx="3429000" cy="2148840"/>
          </a:xfrm>
          <a:prstGeom prst="roundRect">
            <a:avLst>
              <a:gd name="adj" fmla="val 3830"/>
            </a:avLst>
          </a:prstGeom>
          <a:solidFill>
            <a:srgbClr val="10173D"/>
          </a:solidFill>
          <a:ln/>
        </p:spPr>
      </p:sp>
      <p:sp>
        <p:nvSpPr>
          <p:cNvPr id="5" name="Shape 3"/>
          <p:cNvSpPr/>
          <p:nvPr/>
        </p:nvSpPr>
        <p:spPr>
          <a:xfrm>
            <a:off x="896112" y="1856232"/>
            <a:ext cx="457200" cy="457200"/>
          </a:xfrm>
          <a:prstGeom prst="ellipse">
            <a:avLst/>
          </a:prstGeom>
          <a:solidFill>
            <a:srgbClr val="1C7293"/>
          </a:solidFill>
          <a:ln/>
        </p:spPr>
      </p:sp>
      <p:sp>
        <p:nvSpPr>
          <p:cNvPr id="6" name="Text 4"/>
          <p:cNvSpPr/>
          <p:nvPr/>
        </p:nvSpPr>
        <p:spPr>
          <a:xfrm>
            <a:off x="896112" y="18562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896112" y="2468880"/>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Loading</a:t>
            </a:r>
            <a:endParaRPr lang="en-US" sz="1450" dirty="0"/>
          </a:p>
        </p:txBody>
      </p:sp>
      <p:sp>
        <p:nvSpPr>
          <p:cNvPr id="8" name="Text 6"/>
          <p:cNvSpPr/>
          <p:nvPr/>
        </p:nvSpPr>
        <p:spPr>
          <a:xfrm>
            <a:off x="896112" y="2834640"/>
            <a:ext cx="2926080" cy="822960"/>
          </a:xfrm>
          <a:prstGeom prst="rect">
            <a:avLst/>
          </a:prstGeom>
          <a:noFill/>
          <a:ln/>
        </p:spPr>
        <p:txBody>
          <a:bodyPr wrap="square" lIns="0" tIns="0" rIns="0" bIns="0" rtlCol="0" anchor="ctr"/>
          <a:lstStyle/>
          <a:p>
            <a:pPr indent="0" marL="0">
              <a:lnSpc>
                <a:spcPts val="1400"/>
              </a:lnSpc>
              <a:buNone/>
            </a:pPr>
            <a:r>
              <a:rPr lang="en-US" sz="1100" dirty="0">
                <a:solidFill>
                  <a:srgbClr val="EAF3F7"/>
                </a:solidFill>
                <a:latin typeface="Calibri" pitchFamily="34" charset="0"/>
                <a:ea typeface="Calibri" pitchFamily="34" charset="-122"/>
                <a:cs typeface="Calibri" pitchFamily="34" charset="-120"/>
              </a:rPr>
              <a:t>Imported the 3,900-row dataset into Python using pandas.</a:t>
            </a:r>
            <a:endParaRPr lang="en-US" sz="1100" dirty="0"/>
          </a:p>
        </p:txBody>
      </p:sp>
      <p:sp>
        <p:nvSpPr>
          <p:cNvPr id="9" name="Shape 7"/>
          <p:cNvSpPr/>
          <p:nvPr/>
        </p:nvSpPr>
        <p:spPr>
          <a:xfrm>
            <a:off x="4343400" y="1600200"/>
            <a:ext cx="3429000" cy="2148840"/>
          </a:xfrm>
          <a:prstGeom prst="roundRect">
            <a:avLst>
              <a:gd name="adj" fmla="val 3830"/>
            </a:avLst>
          </a:prstGeom>
          <a:solidFill>
            <a:srgbClr val="10173D"/>
          </a:solidFill>
          <a:ln/>
        </p:spPr>
      </p:sp>
      <p:sp>
        <p:nvSpPr>
          <p:cNvPr id="10" name="Shape 8"/>
          <p:cNvSpPr/>
          <p:nvPr/>
        </p:nvSpPr>
        <p:spPr>
          <a:xfrm>
            <a:off x="4599432" y="1856232"/>
            <a:ext cx="457200" cy="457200"/>
          </a:xfrm>
          <a:prstGeom prst="ellipse">
            <a:avLst/>
          </a:prstGeom>
          <a:solidFill>
            <a:srgbClr val="1C7293"/>
          </a:solidFill>
          <a:ln/>
        </p:spPr>
      </p:sp>
      <p:sp>
        <p:nvSpPr>
          <p:cNvPr id="11" name="Text 9"/>
          <p:cNvSpPr/>
          <p:nvPr/>
        </p:nvSpPr>
        <p:spPr>
          <a:xfrm>
            <a:off x="4599432" y="18562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599432" y="2468880"/>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Initial Exploration</a:t>
            </a:r>
            <a:endParaRPr lang="en-US" sz="1450" dirty="0"/>
          </a:p>
        </p:txBody>
      </p:sp>
      <p:sp>
        <p:nvSpPr>
          <p:cNvPr id="13" name="Text 11"/>
          <p:cNvSpPr/>
          <p:nvPr/>
        </p:nvSpPr>
        <p:spPr>
          <a:xfrm>
            <a:off x="4599432" y="2834640"/>
            <a:ext cx="2926080" cy="822960"/>
          </a:xfrm>
          <a:prstGeom prst="rect">
            <a:avLst/>
          </a:prstGeom>
          <a:noFill/>
          <a:ln/>
        </p:spPr>
        <p:txBody>
          <a:bodyPr wrap="square" lIns="0" tIns="0" rIns="0" bIns="0" rtlCol="0" anchor="ctr"/>
          <a:lstStyle/>
          <a:p>
            <a:pPr indent="0" marL="0">
              <a:lnSpc>
                <a:spcPts val="1400"/>
              </a:lnSpc>
              <a:buNone/>
            </a:pPr>
            <a:r>
              <a:rPr lang="en-US" sz="1100" dirty="0">
                <a:solidFill>
                  <a:srgbClr val="EAF3F7"/>
                </a:solidFill>
                <a:latin typeface="Calibri" pitchFamily="34" charset="0"/>
                <a:ea typeface="Calibri" pitchFamily="34" charset="-122"/>
                <a:cs typeface="Calibri" pitchFamily="34" charset="-120"/>
              </a:rPr>
              <a:t>Ran df.info() and .describe() to check structure and summary statistics.</a:t>
            </a:r>
            <a:endParaRPr lang="en-US" sz="1100" dirty="0"/>
          </a:p>
        </p:txBody>
      </p:sp>
      <p:sp>
        <p:nvSpPr>
          <p:cNvPr id="14" name="Shape 12"/>
          <p:cNvSpPr/>
          <p:nvPr/>
        </p:nvSpPr>
        <p:spPr>
          <a:xfrm>
            <a:off x="8046720" y="1600200"/>
            <a:ext cx="3429000" cy="2148840"/>
          </a:xfrm>
          <a:prstGeom prst="roundRect">
            <a:avLst>
              <a:gd name="adj" fmla="val 3830"/>
            </a:avLst>
          </a:prstGeom>
          <a:solidFill>
            <a:srgbClr val="10173D"/>
          </a:solidFill>
          <a:ln/>
        </p:spPr>
      </p:sp>
      <p:sp>
        <p:nvSpPr>
          <p:cNvPr id="15" name="Shape 13"/>
          <p:cNvSpPr/>
          <p:nvPr/>
        </p:nvSpPr>
        <p:spPr>
          <a:xfrm>
            <a:off x="8302752" y="1856232"/>
            <a:ext cx="457200" cy="457200"/>
          </a:xfrm>
          <a:prstGeom prst="ellipse">
            <a:avLst/>
          </a:prstGeom>
          <a:solidFill>
            <a:srgbClr val="1C7293"/>
          </a:solidFill>
          <a:ln/>
        </p:spPr>
      </p:sp>
      <p:sp>
        <p:nvSpPr>
          <p:cNvPr id="16" name="Text 14"/>
          <p:cNvSpPr/>
          <p:nvPr/>
        </p:nvSpPr>
        <p:spPr>
          <a:xfrm>
            <a:off x="8302752" y="18562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302752" y="2468880"/>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Missing Data Handling</a:t>
            </a:r>
            <a:endParaRPr lang="en-US" sz="1450" dirty="0"/>
          </a:p>
        </p:txBody>
      </p:sp>
      <p:sp>
        <p:nvSpPr>
          <p:cNvPr id="18" name="Text 16"/>
          <p:cNvSpPr/>
          <p:nvPr/>
        </p:nvSpPr>
        <p:spPr>
          <a:xfrm>
            <a:off x="8302752" y="2834640"/>
            <a:ext cx="2926080" cy="822960"/>
          </a:xfrm>
          <a:prstGeom prst="rect">
            <a:avLst/>
          </a:prstGeom>
          <a:noFill/>
          <a:ln/>
        </p:spPr>
        <p:txBody>
          <a:bodyPr wrap="square" lIns="0" tIns="0" rIns="0" bIns="0" rtlCol="0" anchor="ctr"/>
          <a:lstStyle/>
          <a:p>
            <a:pPr indent="0" marL="0">
              <a:lnSpc>
                <a:spcPts val="1400"/>
              </a:lnSpc>
              <a:buNone/>
            </a:pPr>
            <a:r>
              <a:rPr lang="en-US" sz="1100" dirty="0">
                <a:solidFill>
                  <a:srgbClr val="EAF3F7"/>
                </a:solidFill>
                <a:latin typeface="Calibri" pitchFamily="34" charset="0"/>
                <a:ea typeface="Calibri" pitchFamily="34" charset="-122"/>
                <a:cs typeface="Calibri" pitchFamily="34" charset="-120"/>
              </a:rPr>
              <a:t>Imputed 37 missing Review Rating values using the median rating of each product category.</a:t>
            </a:r>
            <a:endParaRPr lang="en-US" sz="1100" dirty="0"/>
          </a:p>
        </p:txBody>
      </p:sp>
      <p:sp>
        <p:nvSpPr>
          <p:cNvPr id="19" name="Shape 17"/>
          <p:cNvSpPr/>
          <p:nvPr/>
        </p:nvSpPr>
        <p:spPr>
          <a:xfrm>
            <a:off x="640080" y="3931920"/>
            <a:ext cx="3429000" cy="2148840"/>
          </a:xfrm>
          <a:prstGeom prst="roundRect">
            <a:avLst>
              <a:gd name="adj" fmla="val 3830"/>
            </a:avLst>
          </a:prstGeom>
          <a:solidFill>
            <a:srgbClr val="10173D"/>
          </a:solidFill>
          <a:ln/>
        </p:spPr>
      </p:sp>
      <p:sp>
        <p:nvSpPr>
          <p:cNvPr id="20" name="Shape 18"/>
          <p:cNvSpPr/>
          <p:nvPr/>
        </p:nvSpPr>
        <p:spPr>
          <a:xfrm>
            <a:off x="896112" y="4187952"/>
            <a:ext cx="457200" cy="457200"/>
          </a:xfrm>
          <a:prstGeom prst="ellipse">
            <a:avLst/>
          </a:prstGeom>
          <a:solidFill>
            <a:srgbClr val="1C7293"/>
          </a:solidFill>
          <a:ln/>
        </p:spPr>
      </p:sp>
      <p:sp>
        <p:nvSpPr>
          <p:cNvPr id="21" name="Text 19"/>
          <p:cNvSpPr/>
          <p:nvPr/>
        </p:nvSpPr>
        <p:spPr>
          <a:xfrm>
            <a:off x="896112"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896112" y="4800600"/>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Column Standardization</a:t>
            </a:r>
            <a:endParaRPr lang="en-US" sz="1450" dirty="0"/>
          </a:p>
        </p:txBody>
      </p:sp>
      <p:sp>
        <p:nvSpPr>
          <p:cNvPr id="23" name="Text 21"/>
          <p:cNvSpPr/>
          <p:nvPr/>
        </p:nvSpPr>
        <p:spPr>
          <a:xfrm>
            <a:off x="896112" y="5166360"/>
            <a:ext cx="2926080" cy="822960"/>
          </a:xfrm>
          <a:prstGeom prst="rect">
            <a:avLst/>
          </a:prstGeom>
          <a:noFill/>
          <a:ln/>
        </p:spPr>
        <p:txBody>
          <a:bodyPr wrap="square" lIns="0" tIns="0" rIns="0" bIns="0" rtlCol="0" anchor="ctr"/>
          <a:lstStyle/>
          <a:p>
            <a:pPr indent="0" marL="0">
              <a:lnSpc>
                <a:spcPts val="1400"/>
              </a:lnSpc>
              <a:buNone/>
            </a:pPr>
            <a:r>
              <a:rPr lang="en-US" sz="1100" dirty="0">
                <a:solidFill>
                  <a:srgbClr val="EAF3F7"/>
                </a:solidFill>
                <a:latin typeface="Calibri" pitchFamily="34" charset="0"/>
                <a:ea typeface="Calibri" pitchFamily="34" charset="-122"/>
                <a:cs typeface="Calibri" pitchFamily="34" charset="-120"/>
              </a:rPr>
              <a:t>Renamed all columns to snake_case for readability and documentation.</a:t>
            </a:r>
            <a:endParaRPr lang="en-US" sz="1100" dirty="0"/>
          </a:p>
        </p:txBody>
      </p:sp>
      <p:sp>
        <p:nvSpPr>
          <p:cNvPr id="24" name="Shape 22"/>
          <p:cNvSpPr/>
          <p:nvPr/>
        </p:nvSpPr>
        <p:spPr>
          <a:xfrm>
            <a:off x="4343400" y="3931920"/>
            <a:ext cx="3429000" cy="2148840"/>
          </a:xfrm>
          <a:prstGeom prst="roundRect">
            <a:avLst>
              <a:gd name="adj" fmla="val 3830"/>
            </a:avLst>
          </a:prstGeom>
          <a:solidFill>
            <a:srgbClr val="10173D"/>
          </a:solidFill>
          <a:ln/>
        </p:spPr>
      </p:sp>
      <p:sp>
        <p:nvSpPr>
          <p:cNvPr id="25" name="Shape 23"/>
          <p:cNvSpPr/>
          <p:nvPr/>
        </p:nvSpPr>
        <p:spPr>
          <a:xfrm>
            <a:off x="4599432" y="4187952"/>
            <a:ext cx="457200" cy="457200"/>
          </a:xfrm>
          <a:prstGeom prst="ellipse">
            <a:avLst/>
          </a:prstGeom>
          <a:solidFill>
            <a:srgbClr val="1C7293"/>
          </a:solidFill>
          <a:ln/>
        </p:spPr>
      </p:sp>
      <p:sp>
        <p:nvSpPr>
          <p:cNvPr id="26" name="Text 24"/>
          <p:cNvSpPr/>
          <p:nvPr/>
        </p:nvSpPr>
        <p:spPr>
          <a:xfrm>
            <a:off x="4599432"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7" name="Text 25"/>
          <p:cNvSpPr/>
          <p:nvPr/>
        </p:nvSpPr>
        <p:spPr>
          <a:xfrm>
            <a:off x="4599432" y="4800600"/>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Feature Engineering</a:t>
            </a:r>
            <a:endParaRPr lang="en-US" sz="1450" dirty="0"/>
          </a:p>
        </p:txBody>
      </p:sp>
      <p:sp>
        <p:nvSpPr>
          <p:cNvPr id="28" name="Text 26"/>
          <p:cNvSpPr/>
          <p:nvPr/>
        </p:nvSpPr>
        <p:spPr>
          <a:xfrm>
            <a:off x="4599432" y="5166360"/>
            <a:ext cx="2926080" cy="822960"/>
          </a:xfrm>
          <a:prstGeom prst="rect">
            <a:avLst/>
          </a:prstGeom>
          <a:noFill/>
          <a:ln/>
        </p:spPr>
        <p:txBody>
          <a:bodyPr wrap="square" lIns="0" tIns="0" rIns="0" bIns="0" rtlCol="0" anchor="ctr"/>
          <a:lstStyle/>
          <a:p>
            <a:pPr indent="0" marL="0">
              <a:lnSpc>
                <a:spcPts val="1400"/>
              </a:lnSpc>
              <a:buNone/>
            </a:pPr>
            <a:r>
              <a:rPr lang="en-US" sz="1100" dirty="0">
                <a:solidFill>
                  <a:srgbClr val="EAF3F7"/>
                </a:solidFill>
                <a:latin typeface="Calibri" pitchFamily="34" charset="0"/>
                <a:ea typeface="Calibri" pitchFamily="34" charset="-122"/>
                <a:cs typeface="Calibri" pitchFamily="34" charset="-120"/>
              </a:rPr>
              <a:t>Created age_group (binned ages) and purchase_frequency_days from raw purchase data.</a:t>
            </a:r>
            <a:endParaRPr lang="en-US" sz="1100" dirty="0"/>
          </a:p>
        </p:txBody>
      </p:sp>
      <p:sp>
        <p:nvSpPr>
          <p:cNvPr id="29" name="Shape 27"/>
          <p:cNvSpPr/>
          <p:nvPr/>
        </p:nvSpPr>
        <p:spPr>
          <a:xfrm>
            <a:off x="8046720" y="3931920"/>
            <a:ext cx="3429000" cy="2148840"/>
          </a:xfrm>
          <a:prstGeom prst="roundRect">
            <a:avLst>
              <a:gd name="adj" fmla="val 3830"/>
            </a:avLst>
          </a:prstGeom>
          <a:solidFill>
            <a:srgbClr val="10173D"/>
          </a:solidFill>
          <a:ln/>
        </p:spPr>
      </p:sp>
      <p:sp>
        <p:nvSpPr>
          <p:cNvPr id="30" name="Shape 28"/>
          <p:cNvSpPr/>
          <p:nvPr/>
        </p:nvSpPr>
        <p:spPr>
          <a:xfrm>
            <a:off x="8302752" y="4187952"/>
            <a:ext cx="457200" cy="457200"/>
          </a:xfrm>
          <a:prstGeom prst="ellipse">
            <a:avLst/>
          </a:prstGeom>
          <a:solidFill>
            <a:srgbClr val="1C7293"/>
          </a:solidFill>
          <a:ln/>
        </p:spPr>
      </p:sp>
      <p:sp>
        <p:nvSpPr>
          <p:cNvPr id="31" name="Text 29"/>
          <p:cNvSpPr/>
          <p:nvPr/>
        </p:nvSpPr>
        <p:spPr>
          <a:xfrm>
            <a:off x="8302752"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2" name="Text 30"/>
          <p:cNvSpPr/>
          <p:nvPr/>
        </p:nvSpPr>
        <p:spPr>
          <a:xfrm>
            <a:off x="8302752" y="4800600"/>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Consistency Check</a:t>
            </a:r>
            <a:endParaRPr lang="en-US" sz="1450" dirty="0"/>
          </a:p>
        </p:txBody>
      </p:sp>
      <p:sp>
        <p:nvSpPr>
          <p:cNvPr id="33" name="Text 31"/>
          <p:cNvSpPr/>
          <p:nvPr/>
        </p:nvSpPr>
        <p:spPr>
          <a:xfrm>
            <a:off x="8302752" y="5166360"/>
            <a:ext cx="2926080" cy="822960"/>
          </a:xfrm>
          <a:prstGeom prst="rect">
            <a:avLst/>
          </a:prstGeom>
          <a:noFill/>
          <a:ln/>
        </p:spPr>
        <p:txBody>
          <a:bodyPr wrap="square" lIns="0" tIns="0" rIns="0" bIns="0" rtlCol="0" anchor="ctr"/>
          <a:lstStyle/>
          <a:p>
            <a:pPr indent="0" marL="0">
              <a:lnSpc>
                <a:spcPts val="1400"/>
              </a:lnSpc>
              <a:buNone/>
            </a:pPr>
            <a:r>
              <a:rPr lang="en-US" sz="1100" dirty="0">
                <a:solidFill>
                  <a:srgbClr val="EAF3F7"/>
                </a:solidFill>
                <a:latin typeface="Calibri" pitchFamily="34" charset="0"/>
                <a:ea typeface="Calibri" pitchFamily="34" charset="-122"/>
                <a:cs typeface="Calibri" pitchFamily="34" charset="-120"/>
              </a:rPr>
              <a:t>Found discount_applied and promo_code_used were redundant; dropped promo_code_used.</a:t>
            </a:r>
            <a:endParaRPr lang="en-US" sz="1100" dirty="0"/>
          </a:p>
        </p:txBody>
      </p:sp>
      <p:sp>
        <p:nvSpPr>
          <p:cNvPr id="34" name="Text 32"/>
          <p:cNvSpPr/>
          <p:nvPr/>
        </p:nvSpPr>
        <p:spPr>
          <a:xfrm>
            <a:off x="640080" y="6263640"/>
            <a:ext cx="10881360" cy="365760"/>
          </a:xfrm>
          <a:prstGeom prst="rect">
            <a:avLst/>
          </a:prstGeom>
          <a:noFill/>
          <a:ln/>
        </p:spPr>
        <p:txBody>
          <a:bodyPr wrap="square" lIns="0" tIns="0" rIns="0" bIns="0" rtlCol="0" anchor="ctr"/>
          <a:lstStyle/>
          <a:p>
            <a:pPr indent="0" marL="0">
              <a:buNone/>
            </a:pPr>
            <a:r>
              <a:rPr lang="en-US" sz="1150" i="1" dirty="0">
                <a:solidFill>
                  <a:srgbClr val="F2A541"/>
                </a:solidFill>
                <a:latin typeface="Calibri" pitchFamily="34" charset="0"/>
                <a:ea typeface="Calibri" pitchFamily="34" charset="-122"/>
                <a:cs typeface="Calibri" pitchFamily="34" charset="-120"/>
              </a:rPr>
              <a:t>Database Integration: the cleaned DataFrame was loaded into PostgreSQL for structured SQL analysis of key business questions.</a:t>
            </a:r>
            <a:endParaRPr lang="en-US" sz="1150" dirty="0"/>
          </a:p>
        </p:txBody>
      </p:sp>
      <p:sp>
        <p:nvSpPr>
          <p:cNvPr id="35" name="Text 33"/>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SQL ANALYSIS  ·  REVENUE</a:t>
            </a:r>
            <a:endParaRPr lang="en-US" sz="1200" dirty="0"/>
          </a:p>
        </p:txBody>
      </p:sp>
      <p:sp>
        <p:nvSpPr>
          <p:cNvPr id="3" name="Text 1"/>
          <p:cNvSpPr/>
          <p:nvPr/>
        </p:nvSpPr>
        <p:spPr>
          <a:xfrm>
            <a:off x="640080" y="749808"/>
            <a:ext cx="10515600" cy="548640"/>
          </a:xfrm>
          <a:prstGeom prst="rect">
            <a:avLst/>
          </a:prstGeom>
          <a:noFill/>
          <a:ln/>
        </p:spPr>
        <p:txBody>
          <a:bodyPr wrap="square" rtlCol="0" anchor="ctr"/>
          <a:lstStyle/>
          <a:p>
            <a:pPr indent="0" marL="0">
              <a:buNone/>
            </a:pPr>
            <a:r>
              <a:rPr lang="en-US" sz="2500" b="1" dirty="0">
                <a:solidFill>
                  <a:srgbClr val="21295C"/>
                </a:solidFill>
                <a:latin typeface="Cambria" pitchFamily="34" charset="0"/>
                <a:ea typeface="Cambria" pitchFamily="34" charset="-122"/>
                <a:cs typeface="Cambria" pitchFamily="34" charset="-120"/>
              </a:rPr>
              <a:t>Who drives revenue: gender &amp; subscription status</a:t>
            </a:r>
            <a:endParaRPr lang="en-US" sz="2500" dirty="0"/>
          </a:p>
        </p:txBody>
      </p:sp>
      <p:sp>
        <p:nvSpPr>
          <p:cNvPr id="4" name="Text 2"/>
          <p:cNvSpPr/>
          <p:nvPr/>
        </p:nvSpPr>
        <p:spPr>
          <a:xfrm>
            <a:off x="640080" y="1554480"/>
            <a:ext cx="512064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Revenue by Gender (USD)</a:t>
            </a:r>
            <a:endParaRPr lang="en-US" sz="1300" dirty="0"/>
          </a:p>
        </p:txBody>
      </p:sp>
      <p:graphicFrame>
        <p:nvGraphicFramePr>
          <p:cNvPr id="5" name="Chart 0" descr=""/>
          <p:cNvGraphicFramePr/>
          <p:nvPr/>
        </p:nvGraphicFramePr>
        <p:xfrm>
          <a:off x="640080" y="1920240"/>
          <a:ext cx="5212080" cy="2331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4343400"/>
            <a:ext cx="5212080" cy="640080"/>
          </a:xfrm>
          <a:prstGeom prst="rect">
            <a:avLst/>
          </a:prstGeom>
          <a:noFill/>
          <a:ln/>
        </p:spPr>
        <p:txBody>
          <a:bodyPr wrap="square"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Male customers generated over double the revenue of female customers ($157,890 vs. $75,191).</a:t>
            </a:r>
            <a:endParaRPr lang="en-US" sz="1150" dirty="0"/>
          </a:p>
        </p:txBody>
      </p:sp>
      <p:sp>
        <p:nvSpPr>
          <p:cNvPr id="7" name="Text 4"/>
          <p:cNvSpPr/>
          <p:nvPr/>
        </p:nvSpPr>
        <p:spPr>
          <a:xfrm>
            <a:off x="6263640" y="1554480"/>
            <a:ext cx="530352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Subscribers vs. Non-Subscribers</a:t>
            </a:r>
            <a:endParaRPr lang="en-US" sz="1300" dirty="0"/>
          </a:p>
        </p:txBody>
      </p:sp>
      <p:sp>
        <p:nvSpPr>
          <p:cNvPr id="8" name="Shape 5"/>
          <p:cNvSpPr/>
          <p:nvPr/>
        </p:nvSpPr>
        <p:spPr>
          <a:xfrm>
            <a:off x="6263640" y="1965960"/>
            <a:ext cx="5303520" cy="960120"/>
          </a:xfrm>
          <a:prstGeom prst="roundRect">
            <a:avLst>
              <a:gd name="adj" fmla="val 7619"/>
            </a:avLst>
          </a:prstGeom>
          <a:solidFill>
            <a:srgbClr val="EAF3F7"/>
          </a:solidFill>
          <a:ln/>
        </p:spPr>
      </p:sp>
      <p:sp>
        <p:nvSpPr>
          <p:cNvPr id="9" name="Text 6"/>
          <p:cNvSpPr/>
          <p:nvPr/>
        </p:nvSpPr>
        <p:spPr>
          <a:xfrm>
            <a:off x="6492240" y="2057400"/>
            <a:ext cx="2103120" cy="7772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Subscribed</a:t>
            </a:r>
            <a:endParaRPr lang="en-US" sz="1400" dirty="0"/>
          </a:p>
        </p:txBody>
      </p:sp>
      <p:sp>
        <p:nvSpPr>
          <p:cNvPr id="10" name="Text 7"/>
          <p:cNvSpPr/>
          <p:nvPr/>
        </p:nvSpPr>
        <p:spPr>
          <a:xfrm>
            <a:off x="8503920" y="2057400"/>
            <a:ext cx="1051560" cy="777240"/>
          </a:xfrm>
          <a:prstGeom prst="rect">
            <a:avLst/>
          </a:prstGeom>
          <a:noFill/>
          <a:ln/>
        </p:spPr>
        <p:txBody>
          <a:bodyPr wrap="square" lIns="0" tIns="0" rIns="0" bIns="0" rtlCol="0" anchor="ctr"/>
          <a:lstStyle/>
          <a:p>
            <a:pPr algn="ctr" indent="0" marL="0">
              <a:lnSpc>
                <a:spcPts val="1200"/>
              </a:lnSpc>
              <a:buNone/>
            </a:pPr>
            <a:r>
              <a:rPr lang="en-US" sz="1050" dirty="0">
                <a:solidFill>
                  <a:srgbClr val="1B2430"/>
                </a:solidFill>
                <a:latin typeface="Calibri" pitchFamily="34" charset="0"/>
                <a:ea typeface="Calibri" pitchFamily="34" charset="-122"/>
                <a:cs typeface="Calibri" pitchFamily="34" charset="-120"/>
              </a:rPr>
              <a:t>1,053</a:t>
            </a:r>
            <a:endParaRPr lang="en-US" sz="1050" dirty="0"/>
          </a:p>
          <a:p>
            <a:pPr algn="ctr" indent="0" marL="0">
              <a:lnSpc>
                <a:spcPts val="1200"/>
              </a:lnSpc>
              <a:buNone/>
            </a:pPr>
            <a:r>
              <a:rPr lang="en-US" sz="1050" dirty="0">
                <a:solidFill>
                  <a:srgbClr val="1B2430"/>
                </a:solidFill>
                <a:latin typeface="Calibri" pitchFamily="34" charset="0"/>
                <a:ea typeface="Calibri" pitchFamily="34" charset="-122"/>
                <a:cs typeface="Calibri" pitchFamily="34" charset="-120"/>
              </a:rPr>
              <a:t>customers</a:t>
            </a:r>
            <a:endParaRPr lang="en-US" sz="1050" dirty="0"/>
          </a:p>
        </p:txBody>
      </p:sp>
      <p:sp>
        <p:nvSpPr>
          <p:cNvPr id="11" name="Text 8"/>
          <p:cNvSpPr/>
          <p:nvPr/>
        </p:nvSpPr>
        <p:spPr>
          <a:xfrm>
            <a:off x="9509760" y="2057400"/>
            <a:ext cx="1005840" cy="777240"/>
          </a:xfrm>
          <a:prstGeom prst="rect">
            <a:avLst/>
          </a:prstGeom>
          <a:noFill/>
          <a:ln/>
        </p:spPr>
        <p:txBody>
          <a:bodyPr wrap="square" lIns="0" tIns="0" rIns="0" bIns="0" rtlCol="0" anchor="ctr"/>
          <a:lstStyle/>
          <a:p>
            <a:pPr algn="ctr" indent="0" marL="0">
              <a:buNone/>
            </a:pPr>
            <a:r>
              <a:rPr lang="en-US" sz="1050" dirty="0">
                <a:solidFill>
                  <a:srgbClr val="1B2430"/>
                </a:solidFill>
                <a:latin typeface="Calibri" pitchFamily="34" charset="0"/>
                <a:ea typeface="Calibri" pitchFamily="34" charset="-122"/>
                <a:cs typeface="Calibri" pitchFamily="34" charset="-120"/>
              </a:rPr>
              <a:t>$59.49 avg</a:t>
            </a:r>
            <a:endParaRPr lang="en-US" sz="1050" dirty="0"/>
          </a:p>
        </p:txBody>
      </p:sp>
      <p:sp>
        <p:nvSpPr>
          <p:cNvPr id="12" name="Text 9"/>
          <p:cNvSpPr/>
          <p:nvPr/>
        </p:nvSpPr>
        <p:spPr>
          <a:xfrm>
            <a:off x="10469880" y="2057400"/>
            <a:ext cx="1005840" cy="777240"/>
          </a:xfrm>
          <a:prstGeom prst="rect">
            <a:avLst/>
          </a:prstGeom>
          <a:noFill/>
          <a:ln/>
        </p:spPr>
        <p:txBody>
          <a:bodyPr wrap="square" lIns="0" tIns="0" rIns="0" bIns="0"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$62,645 total</a:t>
            </a:r>
            <a:endParaRPr lang="en-US" sz="1050" dirty="0"/>
          </a:p>
        </p:txBody>
      </p:sp>
      <p:sp>
        <p:nvSpPr>
          <p:cNvPr id="13" name="Shape 10"/>
          <p:cNvSpPr/>
          <p:nvPr/>
        </p:nvSpPr>
        <p:spPr>
          <a:xfrm>
            <a:off x="6263640" y="3108960"/>
            <a:ext cx="5303520" cy="960120"/>
          </a:xfrm>
          <a:prstGeom prst="roundRect">
            <a:avLst>
              <a:gd name="adj" fmla="val 7619"/>
            </a:avLst>
          </a:prstGeom>
          <a:solidFill>
            <a:srgbClr val="EAF3F7"/>
          </a:solidFill>
          <a:ln/>
        </p:spPr>
      </p:sp>
      <p:sp>
        <p:nvSpPr>
          <p:cNvPr id="14" name="Text 11"/>
          <p:cNvSpPr/>
          <p:nvPr/>
        </p:nvSpPr>
        <p:spPr>
          <a:xfrm>
            <a:off x="6492240" y="3200400"/>
            <a:ext cx="2103120" cy="7772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Not Subscribed</a:t>
            </a:r>
            <a:endParaRPr lang="en-US" sz="1400" dirty="0"/>
          </a:p>
        </p:txBody>
      </p:sp>
      <p:sp>
        <p:nvSpPr>
          <p:cNvPr id="15" name="Text 12"/>
          <p:cNvSpPr/>
          <p:nvPr/>
        </p:nvSpPr>
        <p:spPr>
          <a:xfrm>
            <a:off x="8503920" y="3200400"/>
            <a:ext cx="1051560" cy="777240"/>
          </a:xfrm>
          <a:prstGeom prst="rect">
            <a:avLst/>
          </a:prstGeom>
          <a:noFill/>
          <a:ln/>
        </p:spPr>
        <p:txBody>
          <a:bodyPr wrap="square" lIns="0" tIns="0" rIns="0" bIns="0" rtlCol="0" anchor="ctr"/>
          <a:lstStyle/>
          <a:p>
            <a:pPr algn="ctr" indent="0" marL="0">
              <a:lnSpc>
                <a:spcPts val="1200"/>
              </a:lnSpc>
              <a:buNone/>
            </a:pPr>
            <a:r>
              <a:rPr lang="en-US" sz="1050" dirty="0">
                <a:solidFill>
                  <a:srgbClr val="1B2430"/>
                </a:solidFill>
                <a:latin typeface="Calibri" pitchFamily="34" charset="0"/>
                <a:ea typeface="Calibri" pitchFamily="34" charset="-122"/>
                <a:cs typeface="Calibri" pitchFamily="34" charset="-120"/>
              </a:rPr>
              <a:t>2,847</a:t>
            </a:r>
            <a:endParaRPr lang="en-US" sz="1050" dirty="0"/>
          </a:p>
          <a:p>
            <a:pPr algn="ctr" indent="0" marL="0">
              <a:lnSpc>
                <a:spcPts val="1200"/>
              </a:lnSpc>
              <a:buNone/>
            </a:pPr>
            <a:r>
              <a:rPr lang="en-US" sz="1050" dirty="0">
                <a:solidFill>
                  <a:srgbClr val="1B2430"/>
                </a:solidFill>
                <a:latin typeface="Calibri" pitchFamily="34" charset="0"/>
                <a:ea typeface="Calibri" pitchFamily="34" charset="-122"/>
                <a:cs typeface="Calibri" pitchFamily="34" charset="-120"/>
              </a:rPr>
              <a:t>customers</a:t>
            </a:r>
            <a:endParaRPr lang="en-US" sz="1050" dirty="0"/>
          </a:p>
        </p:txBody>
      </p:sp>
      <p:sp>
        <p:nvSpPr>
          <p:cNvPr id="16" name="Text 13"/>
          <p:cNvSpPr/>
          <p:nvPr/>
        </p:nvSpPr>
        <p:spPr>
          <a:xfrm>
            <a:off x="9509760" y="3200400"/>
            <a:ext cx="1005840" cy="777240"/>
          </a:xfrm>
          <a:prstGeom prst="rect">
            <a:avLst/>
          </a:prstGeom>
          <a:noFill/>
          <a:ln/>
        </p:spPr>
        <p:txBody>
          <a:bodyPr wrap="square" lIns="0" tIns="0" rIns="0" bIns="0" rtlCol="0" anchor="ctr"/>
          <a:lstStyle/>
          <a:p>
            <a:pPr algn="ctr" indent="0" marL="0">
              <a:buNone/>
            </a:pPr>
            <a:r>
              <a:rPr lang="en-US" sz="1050" dirty="0">
                <a:solidFill>
                  <a:srgbClr val="1B2430"/>
                </a:solidFill>
                <a:latin typeface="Calibri" pitchFamily="34" charset="0"/>
                <a:ea typeface="Calibri" pitchFamily="34" charset="-122"/>
                <a:cs typeface="Calibri" pitchFamily="34" charset="-120"/>
              </a:rPr>
              <a:t>$59.87 avg</a:t>
            </a:r>
            <a:endParaRPr lang="en-US" sz="1050" dirty="0"/>
          </a:p>
        </p:txBody>
      </p:sp>
      <p:sp>
        <p:nvSpPr>
          <p:cNvPr id="17" name="Text 14"/>
          <p:cNvSpPr/>
          <p:nvPr/>
        </p:nvSpPr>
        <p:spPr>
          <a:xfrm>
            <a:off x="10469880" y="3200400"/>
            <a:ext cx="1005840" cy="777240"/>
          </a:xfrm>
          <a:prstGeom prst="rect">
            <a:avLst/>
          </a:prstGeom>
          <a:noFill/>
          <a:ln/>
        </p:spPr>
        <p:txBody>
          <a:bodyPr wrap="square" lIns="0" tIns="0" rIns="0" bIns="0"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$170,436 total</a:t>
            </a:r>
            <a:endParaRPr lang="en-US" sz="1050" dirty="0"/>
          </a:p>
        </p:txBody>
      </p:sp>
      <p:sp>
        <p:nvSpPr>
          <p:cNvPr id="18" name="Text 15"/>
          <p:cNvSpPr/>
          <p:nvPr/>
        </p:nvSpPr>
        <p:spPr>
          <a:xfrm>
            <a:off x="6263640" y="4343400"/>
            <a:ext cx="5303520" cy="822960"/>
          </a:xfrm>
          <a:prstGeom prst="rect">
            <a:avLst/>
          </a:prstGeom>
          <a:noFill/>
          <a:ln/>
        </p:spPr>
        <p:txBody>
          <a:bodyPr wrap="square"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Despite similar average spend, non-subscribers generate 2.7x more total revenue simply through greater volume — the subscriber base is small but stable.</a:t>
            </a:r>
            <a:endParaRPr lang="en-US" sz="1150" dirty="0"/>
          </a:p>
        </p:txBody>
      </p:sp>
      <p:sp>
        <p:nvSpPr>
          <p:cNvPr id="19" name="Text 16"/>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SQL ANALYSIS  ·  PRODUCTS</a:t>
            </a:r>
            <a:endParaRPr lang="en-US" sz="1200" dirty="0"/>
          </a:p>
        </p:txBody>
      </p:sp>
      <p:sp>
        <p:nvSpPr>
          <p:cNvPr id="3" name="Text 1"/>
          <p:cNvSpPr/>
          <p:nvPr/>
        </p:nvSpPr>
        <p:spPr>
          <a:xfrm>
            <a:off x="640080" y="749808"/>
            <a:ext cx="10515600" cy="548640"/>
          </a:xfrm>
          <a:prstGeom prst="rect">
            <a:avLst/>
          </a:prstGeom>
          <a:noFill/>
          <a:ln/>
        </p:spPr>
        <p:txBody>
          <a:bodyPr wrap="square" rtlCol="0" anchor="ctr"/>
          <a:lstStyle/>
          <a:p>
            <a:pPr indent="0" marL="0">
              <a:buNone/>
            </a:pPr>
            <a:r>
              <a:rPr lang="en-US" sz="2500" b="1" dirty="0">
                <a:solidFill>
                  <a:srgbClr val="21295C"/>
                </a:solidFill>
                <a:latin typeface="Cambria" pitchFamily="34" charset="0"/>
                <a:ea typeface="Cambria" pitchFamily="34" charset="-122"/>
                <a:cs typeface="Cambria" pitchFamily="34" charset="-120"/>
              </a:rPr>
              <a:t>Top-rated products vs. discount-dependent products</a:t>
            </a:r>
            <a:endParaRPr lang="en-US" sz="2500" dirty="0"/>
          </a:p>
        </p:txBody>
      </p:sp>
      <p:sp>
        <p:nvSpPr>
          <p:cNvPr id="4" name="Text 2"/>
          <p:cNvSpPr/>
          <p:nvPr/>
        </p:nvSpPr>
        <p:spPr>
          <a:xfrm>
            <a:off x="640080" y="1554480"/>
            <a:ext cx="512064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Top 5 Products by Rating</a:t>
            </a:r>
            <a:endParaRPr lang="en-US" sz="1300" dirty="0"/>
          </a:p>
        </p:txBody>
      </p:sp>
      <p:sp>
        <p:nvSpPr>
          <p:cNvPr id="5" name="Text 3"/>
          <p:cNvSpPr/>
          <p:nvPr/>
        </p:nvSpPr>
        <p:spPr>
          <a:xfrm>
            <a:off x="640080" y="1965960"/>
            <a:ext cx="155448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Gloves</a:t>
            </a:r>
            <a:endParaRPr lang="en-US" sz="1250" dirty="0"/>
          </a:p>
        </p:txBody>
      </p:sp>
      <p:sp>
        <p:nvSpPr>
          <p:cNvPr id="6" name="Shape 4"/>
          <p:cNvSpPr/>
          <p:nvPr/>
        </p:nvSpPr>
        <p:spPr>
          <a:xfrm>
            <a:off x="2286000" y="2039112"/>
            <a:ext cx="2743200" cy="219456"/>
          </a:xfrm>
          <a:prstGeom prst="roundRect">
            <a:avLst>
              <a:gd name="adj" fmla="val 16667"/>
            </a:avLst>
          </a:prstGeom>
          <a:solidFill>
            <a:srgbClr val="EAF3F7"/>
          </a:solidFill>
          <a:ln/>
        </p:spPr>
      </p:sp>
      <p:sp>
        <p:nvSpPr>
          <p:cNvPr id="7" name="Shape 5"/>
          <p:cNvSpPr/>
          <p:nvPr/>
        </p:nvSpPr>
        <p:spPr>
          <a:xfrm>
            <a:off x="2286000" y="2039112"/>
            <a:ext cx="2647188" cy="219456"/>
          </a:xfrm>
          <a:prstGeom prst="roundRect">
            <a:avLst>
              <a:gd name="adj" fmla="val 16667"/>
            </a:avLst>
          </a:prstGeom>
          <a:solidFill>
            <a:srgbClr val="1C7293"/>
          </a:solidFill>
          <a:ln/>
        </p:spPr>
      </p:sp>
      <p:sp>
        <p:nvSpPr>
          <p:cNvPr id="8" name="Text 6"/>
          <p:cNvSpPr/>
          <p:nvPr/>
        </p:nvSpPr>
        <p:spPr>
          <a:xfrm>
            <a:off x="5120640" y="1965960"/>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3.86</a:t>
            </a:r>
            <a:endParaRPr lang="en-US" sz="1200" dirty="0"/>
          </a:p>
        </p:txBody>
      </p:sp>
      <p:sp>
        <p:nvSpPr>
          <p:cNvPr id="9" name="Text 7"/>
          <p:cNvSpPr/>
          <p:nvPr/>
        </p:nvSpPr>
        <p:spPr>
          <a:xfrm>
            <a:off x="640080" y="2450592"/>
            <a:ext cx="155448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Sandals</a:t>
            </a:r>
            <a:endParaRPr lang="en-US" sz="1250" dirty="0"/>
          </a:p>
        </p:txBody>
      </p:sp>
      <p:sp>
        <p:nvSpPr>
          <p:cNvPr id="10" name="Shape 8"/>
          <p:cNvSpPr/>
          <p:nvPr/>
        </p:nvSpPr>
        <p:spPr>
          <a:xfrm>
            <a:off x="2286000" y="2523744"/>
            <a:ext cx="2743200" cy="219456"/>
          </a:xfrm>
          <a:prstGeom prst="roundRect">
            <a:avLst>
              <a:gd name="adj" fmla="val 16667"/>
            </a:avLst>
          </a:prstGeom>
          <a:solidFill>
            <a:srgbClr val="EAF3F7"/>
          </a:solidFill>
          <a:ln/>
        </p:spPr>
      </p:sp>
      <p:sp>
        <p:nvSpPr>
          <p:cNvPr id="11" name="Shape 9"/>
          <p:cNvSpPr/>
          <p:nvPr/>
        </p:nvSpPr>
        <p:spPr>
          <a:xfrm>
            <a:off x="2286000" y="2523744"/>
            <a:ext cx="2633472" cy="219456"/>
          </a:xfrm>
          <a:prstGeom prst="roundRect">
            <a:avLst>
              <a:gd name="adj" fmla="val 16667"/>
            </a:avLst>
          </a:prstGeom>
          <a:solidFill>
            <a:srgbClr val="1C7293"/>
          </a:solidFill>
          <a:ln/>
        </p:spPr>
      </p:sp>
      <p:sp>
        <p:nvSpPr>
          <p:cNvPr id="12" name="Text 10"/>
          <p:cNvSpPr/>
          <p:nvPr/>
        </p:nvSpPr>
        <p:spPr>
          <a:xfrm>
            <a:off x="5120640" y="2450592"/>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3.84</a:t>
            </a:r>
            <a:endParaRPr lang="en-US" sz="1200" dirty="0"/>
          </a:p>
        </p:txBody>
      </p:sp>
      <p:sp>
        <p:nvSpPr>
          <p:cNvPr id="13" name="Text 11"/>
          <p:cNvSpPr/>
          <p:nvPr/>
        </p:nvSpPr>
        <p:spPr>
          <a:xfrm>
            <a:off x="640080" y="2935224"/>
            <a:ext cx="155448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Boots</a:t>
            </a:r>
            <a:endParaRPr lang="en-US" sz="1250" dirty="0"/>
          </a:p>
        </p:txBody>
      </p:sp>
      <p:sp>
        <p:nvSpPr>
          <p:cNvPr id="14" name="Shape 12"/>
          <p:cNvSpPr/>
          <p:nvPr/>
        </p:nvSpPr>
        <p:spPr>
          <a:xfrm>
            <a:off x="2286000" y="3008376"/>
            <a:ext cx="2743200" cy="219456"/>
          </a:xfrm>
          <a:prstGeom prst="roundRect">
            <a:avLst>
              <a:gd name="adj" fmla="val 16667"/>
            </a:avLst>
          </a:prstGeom>
          <a:solidFill>
            <a:srgbClr val="EAF3F7"/>
          </a:solidFill>
          <a:ln/>
        </p:spPr>
      </p:sp>
      <p:sp>
        <p:nvSpPr>
          <p:cNvPr id="15" name="Shape 13"/>
          <p:cNvSpPr/>
          <p:nvPr/>
        </p:nvSpPr>
        <p:spPr>
          <a:xfrm>
            <a:off x="2286000" y="3008376"/>
            <a:ext cx="2619756" cy="219456"/>
          </a:xfrm>
          <a:prstGeom prst="roundRect">
            <a:avLst>
              <a:gd name="adj" fmla="val 16667"/>
            </a:avLst>
          </a:prstGeom>
          <a:solidFill>
            <a:srgbClr val="1C7293"/>
          </a:solidFill>
          <a:ln/>
        </p:spPr>
      </p:sp>
      <p:sp>
        <p:nvSpPr>
          <p:cNvPr id="16" name="Text 14"/>
          <p:cNvSpPr/>
          <p:nvPr/>
        </p:nvSpPr>
        <p:spPr>
          <a:xfrm>
            <a:off x="5120640" y="2935224"/>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3.82</a:t>
            </a:r>
            <a:endParaRPr lang="en-US" sz="1200" dirty="0"/>
          </a:p>
        </p:txBody>
      </p:sp>
      <p:sp>
        <p:nvSpPr>
          <p:cNvPr id="17" name="Text 15"/>
          <p:cNvSpPr/>
          <p:nvPr/>
        </p:nvSpPr>
        <p:spPr>
          <a:xfrm>
            <a:off x="640080" y="3419856"/>
            <a:ext cx="155448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Hat</a:t>
            </a:r>
            <a:endParaRPr lang="en-US" sz="1250" dirty="0"/>
          </a:p>
        </p:txBody>
      </p:sp>
      <p:sp>
        <p:nvSpPr>
          <p:cNvPr id="18" name="Shape 16"/>
          <p:cNvSpPr/>
          <p:nvPr/>
        </p:nvSpPr>
        <p:spPr>
          <a:xfrm>
            <a:off x="2286000" y="3493008"/>
            <a:ext cx="2743200" cy="219456"/>
          </a:xfrm>
          <a:prstGeom prst="roundRect">
            <a:avLst>
              <a:gd name="adj" fmla="val 16667"/>
            </a:avLst>
          </a:prstGeom>
          <a:solidFill>
            <a:srgbClr val="EAF3F7"/>
          </a:solidFill>
          <a:ln/>
        </p:spPr>
      </p:sp>
      <p:sp>
        <p:nvSpPr>
          <p:cNvPr id="19" name="Shape 17"/>
          <p:cNvSpPr/>
          <p:nvPr/>
        </p:nvSpPr>
        <p:spPr>
          <a:xfrm>
            <a:off x="2286000" y="3493008"/>
            <a:ext cx="2606040" cy="219456"/>
          </a:xfrm>
          <a:prstGeom prst="roundRect">
            <a:avLst>
              <a:gd name="adj" fmla="val 16667"/>
            </a:avLst>
          </a:prstGeom>
          <a:solidFill>
            <a:srgbClr val="1C7293"/>
          </a:solidFill>
          <a:ln/>
        </p:spPr>
      </p:sp>
      <p:sp>
        <p:nvSpPr>
          <p:cNvPr id="20" name="Text 18"/>
          <p:cNvSpPr/>
          <p:nvPr/>
        </p:nvSpPr>
        <p:spPr>
          <a:xfrm>
            <a:off x="5120640" y="3419856"/>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3.80</a:t>
            </a:r>
            <a:endParaRPr lang="en-US" sz="1200" dirty="0"/>
          </a:p>
        </p:txBody>
      </p:sp>
      <p:sp>
        <p:nvSpPr>
          <p:cNvPr id="21" name="Text 19"/>
          <p:cNvSpPr/>
          <p:nvPr/>
        </p:nvSpPr>
        <p:spPr>
          <a:xfrm>
            <a:off x="640080" y="3904488"/>
            <a:ext cx="155448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Skirt</a:t>
            </a:r>
            <a:endParaRPr lang="en-US" sz="1250" dirty="0"/>
          </a:p>
        </p:txBody>
      </p:sp>
      <p:sp>
        <p:nvSpPr>
          <p:cNvPr id="22" name="Shape 20"/>
          <p:cNvSpPr/>
          <p:nvPr/>
        </p:nvSpPr>
        <p:spPr>
          <a:xfrm>
            <a:off x="2286000" y="3977640"/>
            <a:ext cx="2743200" cy="219456"/>
          </a:xfrm>
          <a:prstGeom prst="roundRect">
            <a:avLst>
              <a:gd name="adj" fmla="val 16667"/>
            </a:avLst>
          </a:prstGeom>
          <a:solidFill>
            <a:srgbClr val="EAF3F7"/>
          </a:solidFill>
          <a:ln/>
        </p:spPr>
      </p:sp>
      <p:sp>
        <p:nvSpPr>
          <p:cNvPr id="23" name="Shape 21"/>
          <p:cNvSpPr/>
          <p:nvPr/>
        </p:nvSpPr>
        <p:spPr>
          <a:xfrm>
            <a:off x="2286000" y="3977640"/>
            <a:ext cx="2592324" cy="219456"/>
          </a:xfrm>
          <a:prstGeom prst="roundRect">
            <a:avLst>
              <a:gd name="adj" fmla="val 16667"/>
            </a:avLst>
          </a:prstGeom>
          <a:solidFill>
            <a:srgbClr val="1C7293"/>
          </a:solidFill>
          <a:ln/>
        </p:spPr>
      </p:sp>
      <p:sp>
        <p:nvSpPr>
          <p:cNvPr id="24" name="Text 22"/>
          <p:cNvSpPr/>
          <p:nvPr/>
        </p:nvSpPr>
        <p:spPr>
          <a:xfrm>
            <a:off x="5120640" y="3904488"/>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3.78</a:t>
            </a:r>
            <a:endParaRPr lang="en-US" sz="1200" dirty="0"/>
          </a:p>
        </p:txBody>
      </p:sp>
      <p:sp>
        <p:nvSpPr>
          <p:cNvPr id="25" name="Text 23"/>
          <p:cNvSpPr/>
          <p:nvPr/>
        </p:nvSpPr>
        <p:spPr>
          <a:xfrm>
            <a:off x="6263640" y="1554480"/>
            <a:ext cx="530352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Top 5 Discount-Dependent Products</a:t>
            </a:r>
            <a:endParaRPr lang="en-US" sz="1300" dirty="0"/>
          </a:p>
        </p:txBody>
      </p:sp>
      <p:sp>
        <p:nvSpPr>
          <p:cNvPr id="26" name="Text 24"/>
          <p:cNvSpPr/>
          <p:nvPr/>
        </p:nvSpPr>
        <p:spPr>
          <a:xfrm>
            <a:off x="6263640" y="1965960"/>
            <a:ext cx="173736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Hat</a:t>
            </a:r>
            <a:endParaRPr lang="en-US" sz="1250" dirty="0"/>
          </a:p>
        </p:txBody>
      </p:sp>
      <p:sp>
        <p:nvSpPr>
          <p:cNvPr id="27" name="Shape 25"/>
          <p:cNvSpPr/>
          <p:nvPr/>
        </p:nvSpPr>
        <p:spPr>
          <a:xfrm>
            <a:off x="8092440" y="2039112"/>
            <a:ext cx="2651760" cy="219456"/>
          </a:xfrm>
          <a:prstGeom prst="roundRect">
            <a:avLst>
              <a:gd name="adj" fmla="val 16667"/>
            </a:avLst>
          </a:prstGeom>
          <a:solidFill>
            <a:srgbClr val="EAF3F7"/>
          </a:solidFill>
          <a:ln/>
        </p:spPr>
      </p:sp>
      <p:sp>
        <p:nvSpPr>
          <p:cNvPr id="28" name="Shape 26"/>
          <p:cNvSpPr/>
          <p:nvPr/>
        </p:nvSpPr>
        <p:spPr>
          <a:xfrm>
            <a:off x="8092440" y="2039112"/>
            <a:ext cx="2651760" cy="219456"/>
          </a:xfrm>
          <a:prstGeom prst="roundRect">
            <a:avLst>
              <a:gd name="adj" fmla="val 16667"/>
            </a:avLst>
          </a:prstGeom>
          <a:solidFill>
            <a:srgbClr val="F2A541"/>
          </a:solidFill>
          <a:ln/>
        </p:spPr>
      </p:sp>
      <p:sp>
        <p:nvSpPr>
          <p:cNvPr id="29" name="Text 27"/>
          <p:cNvSpPr/>
          <p:nvPr/>
        </p:nvSpPr>
        <p:spPr>
          <a:xfrm>
            <a:off x="10835640" y="1965960"/>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50.0%</a:t>
            </a:r>
            <a:endParaRPr lang="en-US" sz="1200" dirty="0"/>
          </a:p>
        </p:txBody>
      </p:sp>
      <p:sp>
        <p:nvSpPr>
          <p:cNvPr id="30" name="Text 28"/>
          <p:cNvSpPr/>
          <p:nvPr/>
        </p:nvSpPr>
        <p:spPr>
          <a:xfrm>
            <a:off x="6263640" y="2450592"/>
            <a:ext cx="173736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Sneakers</a:t>
            </a:r>
            <a:endParaRPr lang="en-US" sz="1250" dirty="0"/>
          </a:p>
        </p:txBody>
      </p:sp>
      <p:sp>
        <p:nvSpPr>
          <p:cNvPr id="31" name="Shape 29"/>
          <p:cNvSpPr/>
          <p:nvPr/>
        </p:nvSpPr>
        <p:spPr>
          <a:xfrm>
            <a:off x="8092440" y="2523744"/>
            <a:ext cx="2651760" cy="219456"/>
          </a:xfrm>
          <a:prstGeom prst="roundRect">
            <a:avLst>
              <a:gd name="adj" fmla="val 16667"/>
            </a:avLst>
          </a:prstGeom>
          <a:solidFill>
            <a:srgbClr val="EAF3F7"/>
          </a:solidFill>
          <a:ln/>
        </p:spPr>
      </p:sp>
      <p:sp>
        <p:nvSpPr>
          <p:cNvPr id="32" name="Shape 30"/>
          <p:cNvSpPr/>
          <p:nvPr/>
        </p:nvSpPr>
        <p:spPr>
          <a:xfrm>
            <a:off x="8092440" y="2523744"/>
            <a:ext cx="2633728" cy="219456"/>
          </a:xfrm>
          <a:prstGeom prst="roundRect">
            <a:avLst>
              <a:gd name="adj" fmla="val 16667"/>
            </a:avLst>
          </a:prstGeom>
          <a:solidFill>
            <a:srgbClr val="F2A541"/>
          </a:solidFill>
          <a:ln/>
        </p:spPr>
      </p:sp>
      <p:sp>
        <p:nvSpPr>
          <p:cNvPr id="33" name="Text 31"/>
          <p:cNvSpPr/>
          <p:nvPr/>
        </p:nvSpPr>
        <p:spPr>
          <a:xfrm>
            <a:off x="10835640" y="2450592"/>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49.7%</a:t>
            </a:r>
            <a:endParaRPr lang="en-US" sz="1200" dirty="0"/>
          </a:p>
        </p:txBody>
      </p:sp>
      <p:sp>
        <p:nvSpPr>
          <p:cNvPr id="34" name="Text 32"/>
          <p:cNvSpPr/>
          <p:nvPr/>
        </p:nvSpPr>
        <p:spPr>
          <a:xfrm>
            <a:off x="6263640" y="2935224"/>
            <a:ext cx="173736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Coat</a:t>
            </a:r>
            <a:endParaRPr lang="en-US" sz="1250" dirty="0"/>
          </a:p>
        </p:txBody>
      </p:sp>
      <p:sp>
        <p:nvSpPr>
          <p:cNvPr id="35" name="Shape 33"/>
          <p:cNvSpPr/>
          <p:nvPr/>
        </p:nvSpPr>
        <p:spPr>
          <a:xfrm>
            <a:off x="8092440" y="3008376"/>
            <a:ext cx="2651760" cy="219456"/>
          </a:xfrm>
          <a:prstGeom prst="roundRect">
            <a:avLst>
              <a:gd name="adj" fmla="val 16667"/>
            </a:avLst>
          </a:prstGeom>
          <a:solidFill>
            <a:srgbClr val="EAF3F7"/>
          </a:solidFill>
          <a:ln/>
        </p:spPr>
      </p:sp>
      <p:sp>
        <p:nvSpPr>
          <p:cNvPr id="36" name="Shape 34"/>
          <p:cNvSpPr/>
          <p:nvPr/>
        </p:nvSpPr>
        <p:spPr>
          <a:xfrm>
            <a:off x="8092440" y="3008376"/>
            <a:ext cx="2602437" cy="219456"/>
          </a:xfrm>
          <a:prstGeom prst="roundRect">
            <a:avLst>
              <a:gd name="adj" fmla="val 16667"/>
            </a:avLst>
          </a:prstGeom>
          <a:solidFill>
            <a:srgbClr val="F2A541"/>
          </a:solidFill>
          <a:ln/>
        </p:spPr>
      </p:sp>
      <p:sp>
        <p:nvSpPr>
          <p:cNvPr id="37" name="Text 35"/>
          <p:cNvSpPr/>
          <p:nvPr/>
        </p:nvSpPr>
        <p:spPr>
          <a:xfrm>
            <a:off x="10835640" y="2935224"/>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49.1%</a:t>
            </a:r>
            <a:endParaRPr lang="en-US" sz="1200" dirty="0"/>
          </a:p>
        </p:txBody>
      </p:sp>
      <p:sp>
        <p:nvSpPr>
          <p:cNvPr id="38" name="Text 36"/>
          <p:cNvSpPr/>
          <p:nvPr/>
        </p:nvSpPr>
        <p:spPr>
          <a:xfrm>
            <a:off x="6263640" y="3419856"/>
            <a:ext cx="173736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Sweater</a:t>
            </a:r>
            <a:endParaRPr lang="en-US" sz="1250" dirty="0"/>
          </a:p>
        </p:txBody>
      </p:sp>
      <p:sp>
        <p:nvSpPr>
          <p:cNvPr id="39" name="Shape 37"/>
          <p:cNvSpPr/>
          <p:nvPr/>
        </p:nvSpPr>
        <p:spPr>
          <a:xfrm>
            <a:off x="8092440" y="3493008"/>
            <a:ext cx="2651760" cy="219456"/>
          </a:xfrm>
          <a:prstGeom prst="roundRect">
            <a:avLst>
              <a:gd name="adj" fmla="val 16667"/>
            </a:avLst>
          </a:prstGeom>
          <a:solidFill>
            <a:srgbClr val="EAF3F7"/>
          </a:solidFill>
          <a:ln/>
        </p:spPr>
      </p:sp>
      <p:sp>
        <p:nvSpPr>
          <p:cNvPr id="40" name="Shape 38"/>
          <p:cNvSpPr/>
          <p:nvPr/>
        </p:nvSpPr>
        <p:spPr>
          <a:xfrm>
            <a:off x="8092440" y="3493008"/>
            <a:ext cx="2554706" cy="219456"/>
          </a:xfrm>
          <a:prstGeom prst="roundRect">
            <a:avLst>
              <a:gd name="adj" fmla="val 16667"/>
            </a:avLst>
          </a:prstGeom>
          <a:solidFill>
            <a:srgbClr val="F2A541"/>
          </a:solidFill>
          <a:ln/>
        </p:spPr>
      </p:sp>
      <p:sp>
        <p:nvSpPr>
          <p:cNvPr id="41" name="Text 39"/>
          <p:cNvSpPr/>
          <p:nvPr/>
        </p:nvSpPr>
        <p:spPr>
          <a:xfrm>
            <a:off x="10835640" y="3419856"/>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48.2%</a:t>
            </a:r>
            <a:endParaRPr lang="en-US" sz="1200" dirty="0"/>
          </a:p>
        </p:txBody>
      </p:sp>
      <p:sp>
        <p:nvSpPr>
          <p:cNvPr id="42" name="Text 40"/>
          <p:cNvSpPr/>
          <p:nvPr/>
        </p:nvSpPr>
        <p:spPr>
          <a:xfrm>
            <a:off x="6263640" y="3904488"/>
            <a:ext cx="1737360"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Pants</a:t>
            </a:r>
            <a:endParaRPr lang="en-US" sz="1250" dirty="0"/>
          </a:p>
        </p:txBody>
      </p:sp>
      <p:sp>
        <p:nvSpPr>
          <p:cNvPr id="43" name="Shape 41"/>
          <p:cNvSpPr/>
          <p:nvPr/>
        </p:nvSpPr>
        <p:spPr>
          <a:xfrm>
            <a:off x="8092440" y="3977640"/>
            <a:ext cx="2651760" cy="219456"/>
          </a:xfrm>
          <a:prstGeom prst="roundRect">
            <a:avLst>
              <a:gd name="adj" fmla="val 16667"/>
            </a:avLst>
          </a:prstGeom>
          <a:solidFill>
            <a:srgbClr val="EAF3F7"/>
          </a:solidFill>
          <a:ln/>
        </p:spPr>
      </p:sp>
      <p:sp>
        <p:nvSpPr>
          <p:cNvPr id="44" name="Shape 42"/>
          <p:cNvSpPr/>
          <p:nvPr/>
        </p:nvSpPr>
        <p:spPr>
          <a:xfrm>
            <a:off x="8092440" y="3977640"/>
            <a:ext cx="2512277" cy="219456"/>
          </a:xfrm>
          <a:prstGeom prst="roundRect">
            <a:avLst>
              <a:gd name="adj" fmla="val 16667"/>
            </a:avLst>
          </a:prstGeom>
          <a:solidFill>
            <a:srgbClr val="F2A541"/>
          </a:solidFill>
          <a:ln/>
        </p:spPr>
      </p:sp>
      <p:sp>
        <p:nvSpPr>
          <p:cNvPr id="45" name="Text 43"/>
          <p:cNvSpPr/>
          <p:nvPr/>
        </p:nvSpPr>
        <p:spPr>
          <a:xfrm>
            <a:off x="10835640" y="3904488"/>
            <a:ext cx="640080" cy="3657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47.4%</a:t>
            </a:r>
            <a:endParaRPr lang="en-US" sz="1200" dirty="0"/>
          </a:p>
        </p:txBody>
      </p:sp>
      <p:sp>
        <p:nvSpPr>
          <p:cNvPr id="46" name="Shape 44"/>
          <p:cNvSpPr/>
          <p:nvPr/>
        </p:nvSpPr>
        <p:spPr>
          <a:xfrm>
            <a:off x="640080" y="4663440"/>
            <a:ext cx="10881360" cy="0"/>
          </a:xfrm>
          <a:prstGeom prst="line">
            <a:avLst/>
          </a:prstGeom>
          <a:noFill/>
          <a:ln w="12700">
            <a:solidFill>
              <a:srgbClr val="D9E3E8"/>
            </a:solidFill>
            <a:prstDash val="solid"/>
          </a:ln>
        </p:spPr>
      </p:sp>
      <p:sp>
        <p:nvSpPr>
          <p:cNvPr id="47" name="Text 45"/>
          <p:cNvSpPr/>
          <p:nvPr/>
        </p:nvSpPr>
        <p:spPr>
          <a:xfrm>
            <a:off x="640080" y="4846320"/>
            <a:ext cx="10881360" cy="1005840"/>
          </a:xfrm>
          <a:prstGeom prst="rect">
            <a:avLst/>
          </a:prstGeom>
          <a:noFill/>
          <a:ln/>
        </p:spPr>
        <p:txBody>
          <a:bodyPr wrap="square" rtlCol="0" anchor="ctr"/>
          <a:lstStyle/>
          <a:p>
            <a:pPr indent="0" marL="0">
              <a:lnSpc>
                <a:spcPts val="1800"/>
              </a:lnSpc>
              <a:buNone/>
            </a:pPr>
            <a:r>
              <a:rPr lang="en-US" sz="1300" b="1" dirty="0">
                <a:solidFill>
                  <a:srgbClr val="065A82"/>
                </a:solidFill>
                <a:latin typeface="Calibri" pitchFamily="34" charset="0"/>
                <a:ea typeface="Calibri" pitchFamily="34" charset="-122"/>
                <a:cs typeface="Calibri" pitchFamily="34" charset="-120"/>
              </a:rPr>
              <a:t>Insight:  </a:t>
            </a:r>
            <a:pPr indent="0" marL="0">
              <a:lnSpc>
                <a:spcPts val="1800"/>
              </a:lnSpc>
              <a:buNone/>
            </a:pPr>
            <a:r>
              <a:rPr lang="en-US" sz="1300" dirty="0">
                <a:solidFill>
                  <a:srgbClr val="1B2430"/>
                </a:solidFill>
                <a:latin typeface="Calibri" pitchFamily="34" charset="0"/>
                <a:ea typeface="Calibri" pitchFamily="34" charset="-122"/>
                <a:cs typeface="Calibri" pitchFamily="34" charset="-120"/>
              </a:rPr>
              <a:t>Hat appears on both lists — a strong rating (3.80) but also the highest discount dependency (50%), suggesting its popularity may be price-driven rather than purely preference-driven.</a:t>
            </a:r>
            <a:endParaRPr lang="en-US" sz="1300" dirty="0"/>
          </a:p>
        </p:txBody>
      </p:sp>
      <p:sp>
        <p:nvSpPr>
          <p:cNvPr id="48" name="Text 46"/>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SQL ANALYSIS  ·  CUSTOMERS &amp; CATEGORIES</a:t>
            </a:r>
            <a:endParaRPr lang="en-US" sz="1200" dirty="0"/>
          </a:p>
        </p:txBody>
      </p:sp>
      <p:sp>
        <p:nvSpPr>
          <p:cNvPr id="3" name="Text 1"/>
          <p:cNvSpPr/>
          <p:nvPr/>
        </p:nvSpPr>
        <p:spPr>
          <a:xfrm>
            <a:off x="640080" y="749808"/>
            <a:ext cx="10058400" cy="548640"/>
          </a:xfrm>
          <a:prstGeom prst="rect">
            <a:avLst/>
          </a:prstGeom>
          <a:noFill/>
          <a:ln/>
        </p:spPr>
        <p:txBody>
          <a:bodyPr wrap="square" rtlCol="0" anchor="ctr"/>
          <a:lstStyle/>
          <a:p>
            <a:pPr indent="0" marL="0">
              <a:buNone/>
            </a:pPr>
            <a:r>
              <a:rPr lang="en-US" sz="2500" b="1" dirty="0">
                <a:solidFill>
                  <a:srgbClr val="21295C"/>
                </a:solidFill>
                <a:latin typeface="Cambria" pitchFamily="34" charset="0"/>
                <a:ea typeface="Cambria" pitchFamily="34" charset="-122"/>
                <a:cs typeface="Cambria" pitchFamily="34" charset="-120"/>
              </a:rPr>
              <a:t>Customer segments and category leaders</a:t>
            </a:r>
            <a:endParaRPr lang="en-US" sz="2500" dirty="0"/>
          </a:p>
        </p:txBody>
      </p:sp>
      <p:sp>
        <p:nvSpPr>
          <p:cNvPr id="4" name="Text 2"/>
          <p:cNvSpPr/>
          <p:nvPr/>
        </p:nvSpPr>
        <p:spPr>
          <a:xfrm>
            <a:off x="640080" y="1554480"/>
            <a:ext cx="512064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Customer Segmentation</a:t>
            </a:r>
            <a:endParaRPr lang="en-US" sz="1300" dirty="0"/>
          </a:p>
        </p:txBody>
      </p:sp>
      <p:graphicFrame>
        <p:nvGraphicFramePr>
          <p:cNvPr id="5" name="Chart 0" descr=""/>
          <p:cNvGraphicFramePr/>
          <p:nvPr/>
        </p:nvGraphicFramePr>
        <p:xfrm>
          <a:off x="502920" y="1874520"/>
          <a:ext cx="2743200" cy="228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4297680"/>
            <a:ext cx="5212080" cy="777240"/>
          </a:xfrm>
          <a:prstGeom prst="rect">
            <a:avLst/>
          </a:prstGeom>
          <a:noFill/>
          <a:ln/>
        </p:spPr>
        <p:txBody>
          <a:bodyPr wrap="square" rtlCol="0" anchor="ctr"/>
          <a:lstStyle/>
          <a:p>
            <a:pPr indent="0" marL="0">
              <a:lnSpc>
                <a:spcPts val="1400"/>
              </a:lnSpc>
              <a:buNone/>
            </a:pPr>
            <a:r>
              <a:rPr lang="en-US" sz="1100" b="1" dirty="0">
                <a:solidFill>
                  <a:srgbClr val="065A82"/>
                </a:solidFill>
                <a:latin typeface="Calibri" pitchFamily="34" charset="0"/>
                <a:ea typeface="Calibri" pitchFamily="34" charset="-122"/>
                <a:cs typeface="Calibri" pitchFamily="34" charset="-120"/>
              </a:rPr>
              <a:t>3,116 </a:t>
            </a:r>
            <a:pPr indent="0" marL="0">
              <a:lnSpc>
                <a:spcPts val="1400"/>
              </a:lnSpc>
              <a:buNone/>
            </a:pPr>
            <a:r>
              <a:rPr lang="en-US" sz="1100" dirty="0">
                <a:solidFill>
                  <a:srgbClr val="5C7080"/>
                </a:solidFill>
                <a:latin typeface="Calibri" pitchFamily="34" charset="0"/>
                <a:ea typeface="Calibri" pitchFamily="34" charset="-122"/>
                <a:cs typeface="Calibri" pitchFamily="34" charset="-120"/>
              </a:rPr>
              <a:t>customers (80%) are Loyal — the segmentation shows a mature, retained base with few New shoppers (83) entering the funnel.</a:t>
            </a:r>
            <a:endParaRPr lang="en-US" sz="1100" dirty="0"/>
          </a:p>
        </p:txBody>
      </p:sp>
      <p:sp>
        <p:nvSpPr>
          <p:cNvPr id="7" name="Shape 4"/>
          <p:cNvSpPr/>
          <p:nvPr/>
        </p:nvSpPr>
        <p:spPr>
          <a:xfrm>
            <a:off x="640080" y="5166360"/>
            <a:ext cx="5212080" cy="1051560"/>
          </a:xfrm>
          <a:prstGeom prst="roundRect">
            <a:avLst>
              <a:gd name="adj" fmla="val 6957"/>
            </a:avLst>
          </a:prstGeom>
          <a:solidFill>
            <a:srgbClr val="EAF3F7"/>
          </a:solidFill>
          <a:ln/>
        </p:spPr>
      </p:sp>
      <p:sp>
        <p:nvSpPr>
          <p:cNvPr id="8" name="Text 5"/>
          <p:cNvSpPr/>
          <p:nvPr/>
        </p:nvSpPr>
        <p:spPr>
          <a:xfrm>
            <a:off x="868680" y="5257800"/>
            <a:ext cx="1463040" cy="86868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958</a:t>
            </a:r>
            <a:endParaRPr lang="en-US" sz="3000" dirty="0"/>
          </a:p>
        </p:txBody>
      </p:sp>
      <p:sp>
        <p:nvSpPr>
          <p:cNvPr id="9" name="Text 6"/>
          <p:cNvSpPr/>
          <p:nvPr/>
        </p:nvSpPr>
        <p:spPr>
          <a:xfrm>
            <a:off x="2377440" y="5257800"/>
            <a:ext cx="3337560" cy="868680"/>
          </a:xfrm>
          <a:prstGeom prst="rect">
            <a:avLst/>
          </a:prstGeom>
          <a:noFill/>
          <a:ln/>
        </p:spPr>
        <p:txBody>
          <a:bodyPr wrap="square" lIns="0" tIns="0" rIns="0" bIns="0" rtlCol="0" anchor="ctr"/>
          <a:lstStyle/>
          <a:p>
            <a:pPr indent="0" marL="0">
              <a:lnSpc>
                <a:spcPts val="1300"/>
              </a:lnSpc>
              <a:buNone/>
            </a:pPr>
            <a:r>
              <a:rPr lang="en-US" sz="1050" dirty="0">
                <a:solidFill>
                  <a:srgbClr val="1B2430"/>
                </a:solidFill>
                <a:latin typeface="Calibri" pitchFamily="34" charset="0"/>
                <a:ea typeface="Calibri" pitchFamily="34" charset="-122"/>
                <a:cs typeface="Calibri" pitchFamily="34" charset="-120"/>
              </a:rPr>
              <a:t>of 3,476 customers with &gt;5 purchases are subscribers — repeat buying does not strongly predict subscription (2,518 repeat buyers remain non-subscribers).</a:t>
            </a:r>
            <a:endParaRPr lang="en-US" sz="1050" dirty="0"/>
          </a:p>
        </p:txBody>
      </p:sp>
      <p:sp>
        <p:nvSpPr>
          <p:cNvPr id="10" name="Text 7"/>
          <p:cNvSpPr/>
          <p:nvPr/>
        </p:nvSpPr>
        <p:spPr>
          <a:xfrm>
            <a:off x="6263640" y="1554480"/>
            <a:ext cx="530352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Best-Selling Item per Category</a:t>
            </a:r>
            <a:endParaRPr lang="en-US" sz="1300" dirty="0"/>
          </a:p>
        </p:txBody>
      </p:sp>
      <p:sp>
        <p:nvSpPr>
          <p:cNvPr id="11" name="Shape 8"/>
          <p:cNvSpPr/>
          <p:nvPr/>
        </p:nvSpPr>
        <p:spPr>
          <a:xfrm>
            <a:off x="6263640" y="1965960"/>
            <a:ext cx="5303520" cy="777240"/>
          </a:xfrm>
          <a:prstGeom prst="roundRect">
            <a:avLst>
              <a:gd name="adj" fmla="val 8235"/>
            </a:avLst>
          </a:prstGeom>
          <a:solidFill>
            <a:srgbClr val="FFFFFF"/>
          </a:solidFill>
          <a:ln w="12700">
            <a:solidFill>
              <a:srgbClr val="D9E3E8"/>
            </a:solidFill>
            <a:prstDash val="solid"/>
          </a:ln>
        </p:spPr>
      </p:sp>
      <p:sp>
        <p:nvSpPr>
          <p:cNvPr id="12" name="Text 9"/>
          <p:cNvSpPr/>
          <p:nvPr/>
        </p:nvSpPr>
        <p:spPr>
          <a:xfrm>
            <a:off x="6492240" y="2039112"/>
            <a:ext cx="1828800" cy="274320"/>
          </a:xfrm>
          <a:prstGeom prst="rect">
            <a:avLst/>
          </a:prstGeom>
          <a:noFill/>
          <a:ln/>
        </p:spPr>
        <p:txBody>
          <a:bodyPr wrap="square" lIns="0" tIns="0" rIns="0" bIns="0" rtlCol="0" anchor="ctr"/>
          <a:lstStyle/>
          <a:p>
            <a:pPr indent="0" marL="0">
              <a:buNone/>
            </a:pPr>
            <a:r>
              <a:rPr lang="en-US" sz="950" b="1" spc="100" kern="0" dirty="0">
                <a:solidFill>
                  <a:srgbClr val="1C7293"/>
                </a:solidFill>
                <a:latin typeface="Calibri" pitchFamily="34" charset="0"/>
                <a:ea typeface="Calibri" pitchFamily="34" charset="-122"/>
                <a:cs typeface="Calibri" pitchFamily="34" charset="-120"/>
              </a:rPr>
              <a:t>ACCESSORIES</a:t>
            </a:r>
            <a:endParaRPr lang="en-US" sz="950" dirty="0"/>
          </a:p>
        </p:txBody>
      </p:sp>
      <p:sp>
        <p:nvSpPr>
          <p:cNvPr id="13" name="Text 10"/>
          <p:cNvSpPr/>
          <p:nvPr/>
        </p:nvSpPr>
        <p:spPr>
          <a:xfrm>
            <a:off x="6492240" y="2286000"/>
            <a:ext cx="237744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Jewelry</a:t>
            </a:r>
            <a:endParaRPr lang="en-US" sz="1500" dirty="0"/>
          </a:p>
        </p:txBody>
      </p:sp>
      <p:sp>
        <p:nvSpPr>
          <p:cNvPr id="14" name="Text 11"/>
          <p:cNvSpPr/>
          <p:nvPr/>
        </p:nvSpPr>
        <p:spPr>
          <a:xfrm>
            <a:off x="9966960" y="1965960"/>
            <a:ext cx="914400" cy="777240"/>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171</a:t>
            </a:r>
            <a:endParaRPr lang="en-US" sz="2000" dirty="0"/>
          </a:p>
        </p:txBody>
      </p:sp>
      <p:sp>
        <p:nvSpPr>
          <p:cNvPr id="15" name="Text 12"/>
          <p:cNvSpPr/>
          <p:nvPr/>
        </p:nvSpPr>
        <p:spPr>
          <a:xfrm>
            <a:off x="9646920" y="2514600"/>
            <a:ext cx="1554480" cy="228600"/>
          </a:xfrm>
          <a:prstGeom prst="rect">
            <a:avLst/>
          </a:prstGeom>
          <a:noFill/>
          <a:ln/>
        </p:spPr>
        <p:txBody>
          <a:bodyPr wrap="square" lIns="0" tIns="0" rIns="0" bIns="0" rtlCol="0" anchor="ctr"/>
          <a:lstStyle/>
          <a:p>
            <a:pPr algn="ctr" indent="0" marL="0">
              <a:buNone/>
            </a:pPr>
            <a:r>
              <a:rPr lang="en-US" sz="850" dirty="0">
                <a:solidFill>
                  <a:srgbClr val="5C7080"/>
                </a:solidFill>
                <a:latin typeface="Calibri" pitchFamily="34" charset="0"/>
                <a:ea typeface="Calibri" pitchFamily="34" charset="-122"/>
                <a:cs typeface="Calibri" pitchFamily="34" charset="-120"/>
              </a:rPr>
              <a:t>orders</a:t>
            </a:r>
            <a:endParaRPr lang="en-US" sz="850" dirty="0"/>
          </a:p>
        </p:txBody>
      </p:sp>
      <p:sp>
        <p:nvSpPr>
          <p:cNvPr id="16" name="Shape 13"/>
          <p:cNvSpPr/>
          <p:nvPr/>
        </p:nvSpPr>
        <p:spPr>
          <a:xfrm>
            <a:off x="6263640" y="2898648"/>
            <a:ext cx="5303520" cy="777240"/>
          </a:xfrm>
          <a:prstGeom prst="roundRect">
            <a:avLst>
              <a:gd name="adj" fmla="val 8235"/>
            </a:avLst>
          </a:prstGeom>
          <a:solidFill>
            <a:srgbClr val="FFFFFF"/>
          </a:solidFill>
          <a:ln w="12700">
            <a:solidFill>
              <a:srgbClr val="D9E3E8"/>
            </a:solidFill>
            <a:prstDash val="solid"/>
          </a:ln>
        </p:spPr>
      </p:sp>
      <p:sp>
        <p:nvSpPr>
          <p:cNvPr id="17" name="Text 14"/>
          <p:cNvSpPr/>
          <p:nvPr/>
        </p:nvSpPr>
        <p:spPr>
          <a:xfrm>
            <a:off x="6492240" y="2971800"/>
            <a:ext cx="1828800" cy="274320"/>
          </a:xfrm>
          <a:prstGeom prst="rect">
            <a:avLst/>
          </a:prstGeom>
          <a:noFill/>
          <a:ln/>
        </p:spPr>
        <p:txBody>
          <a:bodyPr wrap="square" lIns="0" tIns="0" rIns="0" bIns="0" rtlCol="0" anchor="ctr"/>
          <a:lstStyle/>
          <a:p>
            <a:pPr indent="0" marL="0">
              <a:buNone/>
            </a:pPr>
            <a:r>
              <a:rPr lang="en-US" sz="950" b="1" spc="100" kern="0" dirty="0">
                <a:solidFill>
                  <a:srgbClr val="1C7293"/>
                </a:solidFill>
                <a:latin typeface="Calibri" pitchFamily="34" charset="0"/>
                <a:ea typeface="Calibri" pitchFamily="34" charset="-122"/>
                <a:cs typeface="Calibri" pitchFamily="34" charset="-120"/>
              </a:rPr>
              <a:t>CLOTHING</a:t>
            </a:r>
            <a:endParaRPr lang="en-US" sz="950" dirty="0"/>
          </a:p>
        </p:txBody>
      </p:sp>
      <p:sp>
        <p:nvSpPr>
          <p:cNvPr id="18" name="Text 15"/>
          <p:cNvSpPr/>
          <p:nvPr/>
        </p:nvSpPr>
        <p:spPr>
          <a:xfrm>
            <a:off x="6492240" y="3218688"/>
            <a:ext cx="237744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Blouse</a:t>
            </a:r>
            <a:endParaRPr lang="en-US" sz="1500" dirty="0"/>
          </a:p>
        </p:txBody>
      </p:sp>
      <p:sp>
        <p:nvSpPr>
          <p:cNvPr id="19" name="Text 16"/>
          <p:cNvSpPr/>
          <p:nvPr/>
        </p:nvSpPr>
        <p:spPr>
          <a:xfrm>
            <a:off x="9966960" y="2898648"/>
            <a:ext cx="914400" cy="777240"/>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171</a:t>
            </a:r>
            <a:endParaRPr lang="en-US" sz="2000" dirty="0"/>
          </a:p>
        </p:txBody>
      </p:sp>
      <p:sp>
        <p:nvSpPr>
          <p:cNvPr id="20" name="Text 17"/>
          <p:cNvSpPr/>
          <p:nvPr/>
        </p:nvSpPr>
        <p:spPr>
          <a:xfrm>
            <a:off x="9646920" y="3447288"/>
            <a:ext cx="1554480" cy="228600"/>
          </a:xfrm>
          <a:prstGeom prst="rect">
            <a:avLst/>
          </a:prstGeom>
          <a:noFill/>
          <a:ln/>
        </p:spPr>
        <p:txBody>
          <a:bodyPr wrap="square" lIns="0" tIns="0" rIns="0" bIns="0" rtlCol="0" anchor="ctr"/>
          <a:lstStyle/>
          <a:p>
            <a:pPr algn="ctr" indent="0" marL="0">
              <a:buNone/>
            </a:pPr>
            <a:r>
              <a:rPr lang="en-US" sz="850" dirty="0">
                <a:solidFill>
                  <a:srgbClr val="5C7080"/>
                </a:solidFill>
                <a:latin typeface="Calibri" pitchFamily="34" charset="0"/>
                <a:ea typeface="Calibri" pitchFamily="34" charset="-122"/>
                <a:cs typeface="Calibri" pitchFamily="34" charset="-120"/>
              </a:rPr>
              <a:t>orders</a:t>
            </a:r>
            <a:endParaRPr lang="en-US" sz="850" dirty="0"/>
          </a:p>
        </p:txBody>
      </p:sp>
      <p:sp>
        <p:nvSpPr>
          <p:cNvPr id="21" name="Shape 18"/>
          <p:cNvSpPr/>
          <p:nvPr/>
        </p:nvSpPr>
        <p:spPr>
          <a:xfrm>
            <a:off x="6263640" y="3831336"/>
            <a:ext cx="5303520" cy="777240"/>
          </a:xfrm>
          <a:prstGeom prst="roundRect">
            <a:avLst>
              <a:gd name="adj" fmla="val 8235"/>
            </a:avLst>
          </a:prstGeom>
          <a:solidFill>
            <a:srgbClr val="FFFFFF"/>
          </a:solidFill>
          <a:ln w="12700">
            <a:solidFill>
              <a:srgbClr val="D9E3E8"/>
            </a:solidFill>
            <a:prstDash val="solid"/>
          </a:ln>
        </p:spPr>
      </p:sp>
      <p:sp>
        <p:nvSpPr>
          <p:cNvPr id="22" name="Text 19"/>
          <p:cNvSpPr/>
          <p:nvPr/>
        </p:nvSpPr>
        <p:spPr>
          <a:xfrm>
            <a:off x="6492240" y="3904488"/>
            <a:ext cx="1828800" cy="274320"/>
          </a:xfrm>
          <a:prstGeom prst="rect">
            <a:avLst/>
          </a:prstGeom>
          <a:noFill/>
          <a:ln/>
        </p:spPr>
        <p:txBody>
          <a:bodyPr wrap="square" lIns="0" tIns="0" rIns="0" bIns="0" rtlCol="0" anchor="ctr"/>
          <a:lstStyle/>
          <a:p>
            <a:pPr indent="0" marL="0">
              <a:buNone/>
            </a:pPr>
            <a:r>
              <a:rPr lang="en-US" sz="950" b="1" spc="100" kern="0" dirty="0">
                <a:solidFill>
                  <a:srgbClr val="1C7293"/>
                </a:solidFill>
                <a:latin typeface="Calibri" pitchFamily="34" charset="0"/>
                <a:ea typeface="Calibri" pitchFamily="34" charset="-122"/>
                <a:cs typeface="Calibri" pitchFamily="34" charset="-120"/>
              </a:rPr>
              <a:t>FOOTWEAR</a:t>
            </a:r>
            <a:endParaRPr lang="en-US" sz="950" dirty="0"/>
          </a:p>
        </p:txBody>
      </p:sp>
      <p:sp>
        <p:nvSpPr>
          <p:cNvPr id="23" name="Text 20"/>
          <p:cNvSpPr/>
          <p:nvPr/>
        </p:nvSpPr>
        <p:spPr>
          <a:xfrm>
            <a:off x="6492240" y="4151376"/>
            <a:ext cx="237744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Sandals</a:t>
            </a:r>
            <a:endParaRPr lang="en-US" sz="1500" dirty="0"/>
          </a:p>
        </p:txBody>
      </p:sp>
      <p:sp>
        <p:nvSpPr>
          <p:cNvPr id="24" name="Text 21"/>
          <p:cNvSpPr/>
          <p:nvPr/>
        </p:nvSpPr>
        <p:spPr>
          <a:xfrm>
            <a:off x="9966960" y="3831336"/>
            <a:ext cx="914400" cy="777240"/>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160</a:t>
            </a:r>
            <a:endParaRPr lang="en-US" sz="2000" dirty="0"/>
          </a:p>
        </p:txBody>
      </p:sp>
      <p:sp>
        <p:nvSpPr>
          <p:cNvPr id="25" name="Text 22"/>
          <p:cNvSpPr/>
          <p:nvPr/>
        </p:nvSpPr>
        <p:spPr>
          <a:xfrm>
            <a:off x="9646920" y="4379976"/>
            <a:ext cx="1554480" cy="228600"/>
          </a:xfrm>
          <a:prstGeom prst="rect">
            <a:avLst/>
          </a:prstGeom>
          <a:noFill/>
          <a:ln/>
        </p:spPr>
        <p:txBody>
          <a:bodyPr wrap="square" lIns="0" tIns="0" rIns="0" bIns="0" rtlCol="0" anchor="ctr"/>
          <a:lstStyle/>
          <a:p>
            <a:pPr algn="ctr" indent="0" marL="0">
              <a:buNone/>
            </a:pPr>
            <a:r>
              <a:rPr lang="en-US" sz="850" dirty="0">
                <a:solidFill>
                  <a:srgbClr val="5C7080"/>
                </a:solidFill>
                <a:latin typeface="Calibri" pitchFamily="34" charset="0"/>
                <a:ea typeface="Calibri" pitchFamily="34" charset="-122"/>
                <a:cs typeface="Calibri" pitchFamily="34" charset="-120"/>
              </a:rPr>
              <a:t>orders</a:t>
            </a:r>
            <a:endParaRPr lang="en-US" sz="850" dirty="0"/>
          </a:p>
        </p:txBody>
      </p:sp>
      <p:sp>
        <p:nvSpPr>
          <p:cNvPr id="26" name="Shape 23"/>
          <p:cNvSpPr/>
          <p:nvPr/>
        </p:nvSpPr>
        <p:spPr>
          <a:xfrm>
            <a:off x="6263640" y="4764024"/>
            <a:ext cx="5303520" cy="777240"/>
          </a:xfrm>
          <a:prstGeom prst="roundRect">
            <a:avLst>
              <a:gd name="adj" fmla="val 8235"/>
            </a:avLst>
          </a:prstGeom>
          <a:solidFill>
            <a:srgbClr val="FFFFFF"/>
          </a:solidFill>
          <a:ln w="12700">
            <a:solidFill>
              <a:srgbClr val="D9E3E8"/>
            </a:solidFill>
            <a:prstDash val="solid"/>
          </a:ln>
        </p:spPr>
      </p:sp>
      <p:sp>
        <p:nvSpPr>
          <p:cNvPr id="27" name="Text 24"/>
          <p:cNvSpPr/>
          <p:nvPr/>
        </p:nvSpPr>
        <p:spPr>
          <a:xfrm>
            <a:off x="6492240" y="4837176"/>
            <a:ext cx="1828800" cy="274320"/>
          </a:xfrm>
          <a:prstGeom prst="rect">
            <a:avLst/>
          </a:prstGeom>
          <a:noFill/>
          <a:ln/>
        </p:spPr>
        <p:txBody>
          <a:bodyPr wrap="square" lIns="0" tIns="0" rIns="0" bIns="0" rtlCol="0" anchor="ctr"/>
          <a:lstStyle/>
          <a:p>
            <a:pPr indent="0" marL="0">
              <a:buNone/>
            </a:pPr>
            <a:r>
              <a:rPr lang="en-US" sz="950" b="1" spc="100" kern="0" dirty="0">
                <a:solidFill>
                  <a:srgbClr val="1C7293"/>
                </a:solidFill>
                <a:latin typeface="Calibri" pitchFamily="34" charset="0"/>
                <a:ea typeface="Calibri" pitchFamily="34" charset="-122"/>
                <a:cs typeface="Calibri" pitchFamily="34" charset="-120"/>
              </a:rPr>
              <a:t>OUTERWEAR</a:t>
            </a:r>
            <a:endParaRPr lang="en-US" sz="950" dirty="0"/>
          </a:p>
        </p:txBody>
      </p:sp>
      <p:sp>
        <p:nvSpPr>
          <p:cNvPr id="28" name="Text 25"/>
          <p:cNvSpPr/>
          <p:nvPr/>
        </p:nvSpPr>
        <p:spPr>
          <a:xfrm>
            <a:off x="6492240" y="5084064"/>
            <a:ext cx="237744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Jacket</a:t>
            </a:r>
            <a:endParaRPr lang="en-US" sz="1500" dirty="0"/>
          </a:p>
        </p:txBody>
      </p:sp>
      <p:sp>
        <p:nvSpPr>
          <p:cNvPr id="29" name="Text 26"/>
          <p:cNvSpPr/>
          <p:nvPr/>
        </p:nvSpPr>
        <p:spPr>
          <a:xfrm>
            <a:off x="9966960" y="4764024"/>
            <a:ext cx="914400" cy="777240"/>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163</a:t>
            </a:r>
            <a:endParaRPr lang="en-US" sz="2000" dirty="0"/>
          </a:p>
        </p:txBody>
      </p:sp>
      <p:sp>
        <p:nvSpPr>
          <p:cNvPr id="30" name="Text 27"/>
          <p:cNvSpPr/>
          <p:nvPr/>
        </p:nvSpPr>
        <p:spPr>
          <a:xfrm>
            <a:off x="9646920" y="5312664"/>
            <a:ext cx="1554480" cy="228600"/>
          </a:xfrm>
          <a:prstGeom prst="rect">
            <a:avLst/>
          </a:prstGeom>
          <a:noFill/>
          <a:ln/>
        </p:spPr>
        <p:txBody>
          <a:bodyPr wrap="square" lIns="0" tIns="0" rIns="0" bIns="0" rtlCol="0" anchor="ctr"/>
          <a:lstStyle/>
          <a:p>
            <a:pPr algn="ctr" indent="0" marL="0">
              <a:buNone/>
            </a:pPr>
            <a:r>
              <a:rPr lang="en-US" sz="850" dirty="0">
                <a:solidFill>
                  <a:srgbClr val="5C7080"/>
                </a:solidFill>
                <a:latin typeface="Calibri" pitchFamily="34" charset="0"/>
                <a:ea typeface="Calibri" pitchFamily="34" charset="-122"/>
                <a:cs typeface="Calibri" pitchFamily="34" charset="-120"/>
              </a:rPr>
              <a:t>orders</a:t>
            </a:r>
            <a:endParaRPr lang="en-US" sz="850" dirty="0"/>
          </a:p>
        </p:txBody>
      </p:sp>
      <p:sp>
        <p:nvSpPr>
          <p:cNvPr id="31" name="Text 28"/>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SQL ANALYSIS  ·  DEMOGRAPHICS &amp; FULFILLMENT</a:t>
            </a:r>
            <a:endParaRPr lang="en-US" sz="1200" dirty="0"/>
          </a:p>
        </p:txBody>
      </p:sp>
      <p:sp>
        <p:nvSpPr>
          <p:cNvPr id="3" name="Text 1"/>
          <p:cNvSpPr/>
          <p:nvPr/>
        </p:nvSpPr>
        <p:spPr>
          <a:xfrm>
            <a:off x="640080" y="749808"/>
            <a:ext cx="10058400" cy="548640"/>
          </a:xfrm>
          <a:prstGeom prst="rect">
            <a:avLst/>
          </a:prstGeom>
          <a:noFill/>
          <a:ln/>
        </p:spPr>
        <p:txBody>
          <a:bodyPr wrap="square" rtlCol="0" anchor="ctr"/>
          <a:lstStyle/>
          <a:p>
            <a:pPr indent="0" marL="0">
              <a:buNone/>
            </a:pPr>
            <a:r>
              <a:rPr lang="en-US" sz="2500" b="1" dirty="0">
                <a:solidFill>
                  <a:srgbClr val="21295C"/>
                </a:solidFill>
                <a:latin typeface="Cambria" pitchFamily="34" charset="0"/>
                <a:ea typeface="Cambria" pitchFamily="34" charset="-122"/>
                <a:cs typeface="Cambria" pitchFamily="34" charset="-120"/>
              </a:rPr>
              <a:t>Revenue by age group &amp; shipping preference</a:t>
            </a:r>
            <a:endParaRPr lang="en-US" sz="2500" dirty="0"/>
          </a:p>
        </p:txBody>
      </p:sp>
      <p:sp>
        <p:nvSpPr>
          <p:cNvPr id="4" name="Text 2"/>
          <p:cNvSpPr/>
          <p:nvPr/>
        </p:nvSpPr>
        <p:spPr>
          <a:xfrm>
            <a:off x="640080" y="1554480"/>
            <a:ext cx="548640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Total Revenue by Age Group (USD)</a:t>
            </a:r>
            <a:endParaRPr lang="en-US" sz="1300" dirty="0"/>
          </a:p>
        </p:txBody>
      </p:sp>
      <p:graphicFrame>
        <p:nvGraphicFramePr>
          <p:cNvPr id="5" name="Chart 0" descr=""/>
          <p:cNvGraphicFramePr/>
          <p:nvPr/>
        </p:nvGraphicFramePr>
        <p:xfrm>
          <a:off x="502920" y="1920240"/>
          <a:ext cx="557784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537960" y="1554480"/>
            <a:ext cx="502920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Avg. Purchase by Shipping Type</a:t>
            </a:r>
            <a:endParaRPr lang="en-US" sz="1300" dirty="0"/>
          </a:p>
        </p:txBody>
      </p:sp>
      <p:sp>
        <p:nvSpPr>
          <p:cNvPr id="7" name="Shape 4"/>
          <p:cNvSpPr/>
          <p:nvPr/>
        </p:nvSpPr>
        <p:spPr>
          <a:xfrm>
            <a:off x="6537960" y="1965960"/>
            <a:ext cx="2514600" cy="1737360"/>
          </a:xfrm>
          <a:prstGeom prst="roundRect">
            <a:avLst>
              <a:gd name="adj" fmla="val 4737"/>
            </a:avLst>
          </a:prstGeom>
          <a:solidFill>
            <a:srgbClr val="EAF3F7"/>
          </a:solidFill>
          <a:ln/>
        </p:spPr>
      </p:sp>
      <p:sp>
        <p:nvSpPr>
          <p:cNvPr id="8" name="Text 5"/>
          <p:cNvSpPr/>
          <p:nvPr/>
        </p:nvSpPr>
        <p:spPr>
          <a:xfrm>
            <a:off x="6537960" y="2331720"/>
            <a:ext cx="2514600" cy="685800"/>
          </a:xfrm>
          <a:prstGeom prst="rect">
            <a:avLst/>
          </a:prstGeom>
          <a:noFill/>
          <a:ln/>
        </p:spPr>
        <p:txBody>
          <a:bodyPr wrap="square" lIns="0" tIns="0" rIns="0" bIns="0" rtlCol="0" anchor="ctr"/>
          <a:lstStyle/>
          <a:p>
            <a:pPr algn="ctr" indent="0" marL="0">
              <a:buNone/>
            </a:pPr>
            <a:r>
              <a:rPr lang="en-US" sz="2600" b="1" dirty="0">
                <a:solidFill>
                  <a:srgbClr val="21295C"/>
                </a:solidFill>
                <a:latin typeface="Cambria" pitchFamily="34" charset="0"/>
                <a:ea typeface="Cambria" pitchFamily="34" charset="-122"/>
                <a:cs typeface="Cambria" pitchFamily="34" charset="-120"/>
              </a:rPr>
              <a:t>$60.48</a:t>
            </a:r>
            <a:endParaRPr lang="en-US" sz="2600" dirty="0"/>
          </a:p>
        </p:txBody>
      </p:sp>
      <p:sp>
        <p:nvSpPr>
          <p:cNvPr id="9" name="Text 6"/>
          <p:cNvSpPr/>
          <p:nvPr/>
        </p:nvSpPr>
        <p:spPr>
          <a:xfrm>
            <a:off x="6537960" y="3063240"/>
            <a:ext cx="2514600" cy="365760"/>
          </a:xfrm>
          <a:prstGeom prst="rect">
            <a:avLst/>
          </a:prstGeom>
          <a:noFill/>
          <a:ln/>
        </p:spPr>
        <p:txBody>
          <a:bodyPr wrap="square" lIns="0" tIns="0" rIns="0" bIns="0" rtlCol="0" anchor="ctr"/>
          <a:lstStyle/>
          <a:p>
            <a:pPr algn="ctr" indent="0" marL="0">
              <a:buNone/>
            </a:pPr>
            <a:r>
              <a:rPr lang="en-US" sz="1100" b="1" spc="100" kern="0" dirty="0">
                <a:solidFill>
                  <a:srgbClr val="B8730A"/>
                </a:solidFill>
                <a:latin typeface="Calibri" pitchFamily="34" charset="0"/>
                <a:ea typeface="Calibri" pitchFamily="34" charset="-122"/>
                <a:cs typeface="Calibri" pitchFamily="34" charset="-120"/>
              </a:rPr>
              <a:t>EXPRESS</a:t>
            </a:r>
            <a:endParaRPr lang="en-US" sz="1100" dirty="0"/>
          </a:p>
        </p:txBody>
      </p:sp>
      <p:sp>
        <p:nvSpPr>
          <p:cNvPr id="10" name="Shape 7"/>
          <p:cNvSpPr/>
          <p:nvPr/>
        </p:nvSpPr>
        <p:spPr>
          <a:xfrm>
            <a:off x="9281160" y="1965960"/>
            <a:ext cx="2514600" cy="1737360"/>
          </a:xfrm>
          <a:prstGeom prst="roundRect">
            <a:avLst>
              <a:gd name="adj" fmla="val 4737"/>
            </a:avLst>
          </a:prstGeom>
          <a:solidFill>
            <a:srgbClr val="EAF3F7"/>
          </a:solidFill>
          <a:ln/>
        </p:spPr>
      </p:sp>
      <p:sp>
        <p:nvSpPr>
          <p:cNvPr id="11" name="Text 8"/>
          <p:cNvSpPr/>
          <p:nvPr/>
        </p:nvSpPr>
        <p:spPr>
          <a:xfrm>
            <a:off x="9281160" y="2331720"/>
            <a:ext cx="2514600" cy="685800"/>
          </a:xfrm>
          <a:prstGeom prst="rect">
            <a:avLst/>
          </a:prstGeom>
          <a:noFill/>
          <a:ln/>
        </p:spPr>
        <p:txBody>
          <a:bodyPr wrap="square" lIns="0" tIns="0" rIns="0" bIns="0" rtlCol="0" anchor="ctr"/>
          <a:lstStyle/>
          <a:p>
            <a:pPr algn="ctr" indent="0" marL="0">
              <a:buNone/>
            </a:pPr>
            <a:r>
              <a:rPr lang="en-US" sz="2600" b="1" dirty="0">
                <a:solidFill>
                  <a:srgbClr val="21295C"/>
                </a:solidFill>
                <a:latin typeface="Cambria" pitchFamily="34" charset="0"/>
                <a:ea typeface="Cambria" pitchFamily="34" charset="-122"/>
                <a:cs typeface="Cambria" pitchFamily="34" charset="-120"/>
              </a:rPr>
              <a:t>$58.46</a:t>
            </a:r>
            <a:endParaRPr lang="en-US" sz="2600" dirty="0"/>
          </a:p>
        </p:txBody>
      </p:sp>
      <p:sp>
        <p:nvSpPr>
          <p:cNvPr id="12" name="Text 9"/>
          <p:cNvSpPr/>
          <p:nvPr/>
        </p:nvSpPr>
        <p:spPr>
          <a:xfrm>
            <a:off x="9281160" y="3063240"/>
            <a:ext cx="2514600" cy="365760"/>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STANDARD</a:t>
            </a:r>
            <a:endParaRPr lang="en-US" sz="1100" dirty="0"/>
          </a:p>
        </p:txBody>
      </p:sp>
      <p:sp>
        <p:nvSpPr>
          <p:cNvPr id="13" name="Text 10"/>
          <p:cNvSpPr/>
          <p:nvPr/>
        </p:nvSpPr>
        <p:spPr>
          <a:xfrm>
            <a:off x="6537960" y="3977640"/>
            <a:ext cx="5029200" cy="914400"/>
          </a:xfrm>
          <a:prstGeom prst="rect">
            <a:avLst/>
          </a:prstGeom>
          <a:noFill/>
          <a:ln/>
        </p:spPr>
        <p:txBody>
          <a:bodyPr wrap="square"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Express shipping customers spend slightly more on average ($60.48 vs. $58.46) — a modest but consistent premium worth testing in future promotions.</a:t>
            </a:r>
            <a:endParaRPr lang="en-US" sz="1150" dirty="0"/>
          </a:p>
        </p:txBody>
      </p:sp>
      <p:sp>
        <p:nvSpPr>
          <p:cNvPr id="14" name="Text 11"/>
          <p:cNvSpPr/>
          <p:nvPr/>
        </p:nvSpPr>
        <p:spPr>
          <a:xfrm>
            <a:off x="640080" y="5440680"/>
            <a:ext cx="5577840" cy="777240"/>
          </a:xfrm>
          <a:prstGeom prst="rect">
            <a:avLst/>
          </a:prstGeom>
          <a:noFill/>
          <a:ln/>
        </p:spPr>
        <p:txBody>
          <a:bodyPr wrap="square" rtlCol="0" anchor="ctr"/>
          <a:lstStyle/>
          <a:p>
            <a:pPr indent="0" marL="0">
              <a:lnSpc>
                <a:spcPts val="1500"/>
              </a:lnSpc>
              <a:buNone/>
            </a:pPr>
            <a:r>
              <a:rPr lang="en-US" sz="1100" dirty="0">
                <a:solidFill>
                  <a:srgbClr val="5C7080"/>
                </a:solidFill>
                <a:latin typeface="Calibri" pitchFamily="34" charset="0"/>
                <a:ea typeface="Calibri" pitchFamily="34" charset="-122"/>
                <a:cs typeface="Calibri" pitchFamily="34" charset="-120"/>
              </a:rPr>
              <a:t>Young Adults lead revenue generation, but the spread across age groups is narrow (55.8K–62.1K) — no single generation dominates spend.</a:t>
            </a:r>
            <a:endParaRPr lang="en-US" sz="1100" dirty="0"/>
          </a:p>
        </p:txBody>
      </p:sp>
      <p:sp>
        <p:nvSpPr>
          <p:cNvPr id="15" name="Text 12"/>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VISUALIZATION</a:t>
            </a:r>
            <a:endParaRPr lang="en-US" sz="1200" dirty="0"/>
          </a:p>
        </p:txBody>
      </p:sp>
      <p:sp>
        <p:nvSpPr>
          <p:cNvPr id="3" name="Text 1"/>
          <p:cNvSpPr/>
          <p:nvPr/>
        </p:nvSpPr>
        <p:spPr>
          <a:xfrm>
            <a:off x="640080" y="749808"/>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 interactive Power BI dashboard</a:t>
            </a:r>
            <a:endParaRPr lang="en-US" sz="2800" dirty="0"/>
          </a:p>
        </p:txBody>
      </p:sp>
      <p:sp>
        <p:nvSpPr>
          <p:cNvPr id="4" name="Text 2"/>
          <p:cNvSpPr/>
          <p:nvPr/>
        </p:nvSpPr>
        <p:spPr>
          <a:xfrm>
            <a:off x="640080" y="1417320"/>
            <a:ext cx="10424160" cy="548640"/>
          </a:xfrm>
          <a:prstGeom prst="rect">
            <a:avLst/>
          </a:prstGeom>
          <a:noFill/>
          <a:ln/>
        </p:spPr>
        <p:txBody>
          <a:bodyPr wrap="square" rtlCol="0" anchor="ctr"/>
          <a:lstStyle/>
          <a:p>
            <a:pPr indent="0" marL="0">
              <a:lnSpc>
                <a:spcPts val="1700"/>
              </a:lnSpc>
              <a:buNone/>
            </a:pPr>
            <a:r>
              <a:rPr lang="en-US" sz="1300" dirty="0">
                <a:solidFill>
                  <a:srgbClr val="EAF3F7"/>
                </a:solidFill>
                <a:latin typeface="Calibri" pitchFamily="34" charset="0"/>
                <a:ea typeface="Calibri" pitchFamily="34" charset="-122"/>
                <a:cs typeface="Calibri" pitchFamily="34" charset="-120"/>
              </a:rPr>
              <a:t>Insights from the SQL analysis were consolidated into a single interactive dashboard — filterable by subscription status, gender, category, and shipping type — for ongoing business use.</a:t>
            </a:r>
            <a:endParaRPr lang="en-US" sz="1300" dirty="0"/>
          </a:p>
        </p:txBody>
      </p:sp>
      <p:sp>
        <p:nvSpPr>
          <p:cNvPr id="5" name="Shape 3"/>
          <p:cNvSpPr/>
          <p:nvPr/>
        </p:nvSpPr>
        <p:spPr>
          <a:xfrm>
            <a:off x="640080" y="2286000"/>
            <a:ext cx="2606040" cy="1188720"/>
          </a:xfrm>
          <a:prstGeom prst="roundRect">
            <a:avLst>
              <a:gd name="adj" fmla="val 6154"/>
            </a:avLst>
          </a:prstGeom>
          <a:solidFill>
            <a:srgbClr val="10173D"/>
          </a:solidFill>
          <a:ln/>
        </p:spPr>
      </p:sp>
      <p:sp>
        <p:nvSpPr>
          <p:cNvPr id="6" name="Text 4"/>
          <p:cNvSpPr/>
          <p:nvPr/>
        </p:nvSpPr>
        <p:spPr>
          <a:xfrm>
            <a:off x="640080" y="2395728"/>
            <a:ext cx="2606040" cy="594360"/>
          </a:xfrm>
          <a:prstGeom prst="rect">
            <a:avLst/>
          </a:prstGeom>
          <a:noFill/>
          <a:ln/>
        </p:spPr>
        <p:txBody>
          <a:bodyPr wrap="square" lIns="0" tIns="0" rIns="0" bIns="0" rtlCol="0" anchor="ctr"/>
          <a:lstStyle/>
          <a:p>
            <a:pPr algn="ctr" indent="0" marL="0">
              <a:buNone/>
            </a:pPr>
            <a:r>
              <a:rPr lang="en-US" sz="2600" b="1" dirty="0">
                <a:solidFill>
                  <a:srgbClr val="F2A541"/>
                </a:solidFill>
                <a:latin typeface="Cambria" pitchFamily="34" charset="0"/>
                <a:ea typeface="Cambria" pitchFamily="34" charset="-122"/>
                <a:cs typeface="Cambria" pitchFamily="34" charset="-120"/>
              </a:rPr>
              <a:t>3.9K</a:t>
            </a:r>
            <a:endParaRPr lang="en-US" sz="2600" dirty="0"/>
          </a:p>
        </p:txBody>
      </p:sp>
      <p:sp>
        <p:nvSpPr>
          <p:cNvPr id="7" name="Text 5"/>
          <p:cNvSpPr/>
          <p:nvPr/>
        </p:nvSpPr>
        <p:spPr>
          <a:xfrm>
            <a:off x="640080" y="2990088"/>
            <a:ext cx="2606040" cy="365760"/>
          </a:xfrm>
          <a:prstGeom prst="rect">
            <a:avLst/>
          </a:prstGeom>
          <a:noFill/>
          <a:ln/>
        </p:spPr>
        <p:txBody>
          <a:bodyPr wrap="square" lIns="0" tIns="0" rIns="0" bIns="0" rtlCol="0" anchor="ctr"/>
          <a:lstStyle/>
          <a:p>
            <a:pPr algn="ctr" indent="0" marL="0">
              <a:buNone/>
            </a:pPr>
            <a:r>
              <a:rPr lang="en-US" sz="1000" spc="100" kern="0" dirty="0">
                <a:solidFill>
                  <a:srgbClr val="EAF3F7"/>
                </a:solidFill>
                <a:latin typeface="Calibri" pitchFamily="34" charset="0"/>
                <a:ea typeface="Calibri" pitchFamily="34" charset="-122"/>
                <a:cs typeface="Calibri" pitchFamily="34" charset="-120"/>
              </a:rPr>
              <a:t>CUSTOMERS</a:t>
            </a:r>
            <a:endParaRPr lang="en-US" sz="1000" dirty="0"/>
          </a:p>
        </p:txBody>
      </p:sp>
      <p:sp>
        <p:nvSpPr>
          <p:cNvPr id="8" name="Shape 6"/>
          <p:cNvSpPr/>
          <p:nvPr/>
        </p:nvSpPr>
        <p:spPr>
          <a:xfrm>
            <a:off x="3429000" y="2286000"/>
            <a:ext cx="2606040" cy="1188720"/>
          </a:xfrm>
          <a:prstGeom prst="roundRect">
            <a:avLst>
              <a:gd name="adj" fmla="val 6154"/>
            </a:avLst>
          </a:prstGeom>
          <a:solidFill>
            <a:srgbClr val="10173D"/>
          </a:solidFill>
          <a:ln/>
        </p:spPr>
      </p:sp>
      <p:sp>
        <p:nvSpPr>
          <p:cNvPr id="9" name="Text 7"/>
          <p:cNvSpPr/>
          <p:nvPr/>
        </p:nvSpPr>
        <p:spPr>
          <a:xfrm>
            <a:off x="3429000" y="2395728"/>
            <a:ext cx="2606040" cy="594360"/>
          </a:xfrm>
          <a:prstGeom prst="rect">
            <a:avLst/>
          </a:prstGeom>
          <a:noFill/>
          <a:ln/>
        </p:spPr>
        <p:txBody>
          <a:bodyPr wrap="square" lIns="0" tIns="0" rIns="0" bIns="0" rtlCol="0" anchor="ctr"/>
          <a:lstStyle/>
          <a:p>
            <a:pPr algn="ctr" indent="0" marL="0">
              <a:buNone/>
            </a:pPr>
            <a:r>
              <a:rPr lang="en-US" sz="2600" b="1" dirty="0">
                <a:solidFill>
                  <a:srgbClr val="F2A541"/>
                </a:solidFill>
                <a:latin typeface="Cambria" pitchFamily="34" charset="0"/>
                <a:ea typeface="Cambria" pitchFamily="34" charset="-122"/>
                <a:cs typeface="Cambria" pitchFamily="34" charset="-120"/>
              </a:rPr>
              <a:t>$59.76</a:t>
            </a:r>
            <a:endParaRPr lang="en-US" sz="2600" dirty="0"/>
          </a:p>
        </p:txBody>
      </p:sp>
      <p:sp>
        <p:nvSpPr>
          <p:cNvPr id="10" name="Text 8"/>
          <p:cNvSpPr/>
          <p:nvPr/>
        </p:nvSpPr>
        <p:spPr>
          <a:xfrm>
            <a:off x="3429000" y="2990088"/>
            <a:ext cx="2606040" cy="365760"/>
          </a:xfrm>
          <a:prstGeom prst="rect">
            <a:avLst/>
          </a:prstGeom>
          <a:noFill/>
          <a:ln/>
        </p:spPr>
        <p:txBody>
          <a:bodyPr wrap="square" lIns="0" tIns="0" rIns="0" bIns="0" rtlCol="0" anchor="ctr"/>
          <a:lstStyle/>
          <a:p>
            <a:pPr algn="ctr" indent="0" marL="0">
              <a:buNone/>
            </a:pPr>
            <a:r>
              <a:rPr lang="en-US" sz="1000" spc="100" kern="0" dirty="0">
                <a:solidFill>
                  <a:srgbClr val="EAF3F7"/>
                </a:solidFill>
                <a:latin typeface="Calibri" pitchFamily="34" charset="0"/>
                <a:ea typeface="Calibri" pitchFamily="34" charset="-122"/>
                <a:cs typeface="Calibri" pitchFamily="34" charset="-120"/>
              </a:rPr>
              <a:t>AVG. PURCHASE</a:t>
            </a:r>
            <a:endParaRPr lang="en-US" sz="1000" dirty="0"/>
          </a:p>
        </p:txBody>
      </p:sp>
      <p:sp>
        <p:nvSpPr>
          <p:cNvPr id="11" name="Shape 9"/>
          <p:cNvSpPr/>
          <p:nvPr/>
        </p:nvSpPr>
        <p:spPr>
          <a:xfrm>
            <a:off x="6217920" y="2286000"/>
            <a:ext cx="2606040" cy="1188720"/>
          </a:xfrm>
          <a:prstGeom prst="roundRect">
            <a:avLst>
              <a:gd name="adj" fmla="val 6154"/>
            </a:avLst>
          </a:prstGeom>
          <a:solidFill>
            <a:srgbClr val="10173D"/>
          </a:solidFill>
          <a:ln/>
        </p:spPr>
      </p:sp>
      <p:sp>
        <p:nvSpPr>
          <p:cNvPr id="12" name="Text 10"/>
          <p:cNvSpPr/>
          <p:nvPr/>
        </p:nvSpPr>
        <p:spPr>
          <a:xfrm>
            <a:off x="6217920" y="2395728"/>
            <a:ext cx="2606040" cy="594360"/>
          </a:xfrm>
          <a:prstGeom prst="rect">
            <a:avLst/>
          </a:prstGeom>
          <a:noFill/>
          <a:ln/>
        </p:spPr>
        <p:txBody>
          <a:bodyPr wrap="square" lIns="0" tIns="0" rIns="0" bIns="0" rtlCol="0" anchor="ctr"/>
          <a:lstStyle/>
          <a:p>
            <a:pPr algn="ctr" indent="0" marL="0">
              <a:buNone/>
            </a:pPr>
            <a:r>
              <a:rPr lang="en-US" sz="2600" b="1" dirty="0">
                <a:solidFill>
                  <a:srgbClr val="F2A541"/>
                </a:solidFill>
                <a:latin typeface="Cambria" pitchFamily="34" charset="0"/>
                <a:ea typeface="Cambria" pitchFamily="34" charset="-122"/>
                <a:cs typeface="Cambria" pitchFamily="34" charset="-120"/>
              </a:rPr>
              <a:t>3.75</a:t>
            </a:r>
            <a:endParaRPr lang="en-US" sz="2600" dirty="0"/>
          </a:p>
        </p:txBody>
      </p:sp>
      <p:sp>
        <p:nvSpPr>
          <p:cNvPr id="13" name="Text 11"/>
          <p:cNvSpPr/>
          <p:nvPr/>
        </p:nvSpPr>
        <p:spPr>
          <a:xfrm>
            <a:off x="6217920" y="2990088"/>
            <a:ext cx="2606040" cy="365760"/>
          </a:xfrm>
          <a:prstGeom prst="rect">
            <a:avLst/>
          </a:prstGeom>
          <a:noFill/>
          <a:ln/>
        </p:spPr>
        <p:txBody>
          <a:bodyPr wrap="square" lIns="0" tIns="0" rIns="0" bIns="0" rtlCol="0" anchor="ctr"/>
          <a:lstStyle/>
          <a:p>
            <a:pPr algn="ctr" indent="0" marL="0">
              <a:buNone/>
            </a:pPr>
            <a:r>
              <a:rPr lang="en-US" sz="1000" spc="100" kern="0" dirty="0">
                <a:solidFill>
                  <a:srgbClr val="EAF3F7"/>
                </a:solidFill>
                <a:latin typeface="Calibri" pitchFamily="34" charset="0"/>
                <a:ea typeface="Calibri" pitchFamily="34" charset="-122"/>
                <a:cs typeface="Calibri" pitchFamily="34" charset="-120"/>
              </a:rPr>
              <a:t>AVG. REVIEW RATING</a:t>
            </a:r>
            <a:endParaRPr lang="en-US" sz="1000" dirty="0"/>
          </a:p>
        </p:txBody>
      </p:sp>
      <p:sp>
        <p:nvSpPr>
          <p:cNvPr id="14" name="Shape 12"/>
          <p:cNvSpPr/>
          <p:nvPr/>
        </p:nvSpPr>
        <p:spPr>
          <a:xfrm>
            <a:off x="9006840" y="2286000"/>
            <a:ext cx="2606040" cy="1188720"/>
          </a:xfrm>
          <a:prstGeom prst="roundRect">
            <a:avLst>
              <a:gd name="adj" fmla="val 6154"/>
            </a:avLst>
          </a:prstGeom>
          <a:solidFill>
            <a:srgbClr val="10173D"/>
          </a:solidFill>
          <a:ln/>
        </p:spPr>
      </p:sp>
      <p:sp>
        <p:nvSpPr>
          <p:cNvPr id="15" name="Text 13"/>
          <p:cNvSpPr/>
          <p:nvPr/>
        </p:nvSpPr>
        <p:spPr>
          <a:xfrm>
            <a:off x="9006840" y="2395728"/>
            <a:ext cx="2606040" cy="594360"/>
          </a:xfrm>
          <a:prstGeom prst="rect">
            <a:avLst/>
          </a:prstGeom>
          <a:noFill/>
          <a:ln/>
        </p:spPr>
        <p:txBody>
          <a:bodyPr wrap="square" lIns="0" tIns="0" rIns="0" bIns="0" rtlCol="0" anchor="ctr"/>
          <a:lstStyle/>
          <a:p>
            <a:pPr algn="ctr" indent="0" marL="0">
              <a:buNone/>
            </a:pPr>
            <a:r>
              <a:rPr lang="en-US" sz="2600" b="1" dirty="0">
                <a:solidFill>
                  <a:srgbClr val="F2A541"/>
                </a:solidFill>
                <a:latin typeface="Cambria" pitchFamily="34" charset="0"/>
                <a:ea typeface="Cambria" pitchFamily="34" charset="-122"/>
                <a:cs typeface="Cambria" pitchFamily="34" charset="-120"/>
              </a:rPr>
              <a:t>27%</a:t>
            </a:r>
            <a:endParaRPr lang="en-US" sz="2600" dirty="0"/>
          </a:p>
        </p:txBody>
      </p:sp>
      <p:sp>
        <p:nvSpPr>
          <p:cNvPr id="16" name="Text 14"/>
          <p:cNvSpPr/>
          <p:nvPr/>
        </p:nvSpPr>
        <p:spPr>
          <a:xfrm>
            <a:off x="9006840" y="2990088"/>
            <a:ext cx="2606040" cy="365760"/>
          </a:xfrm>
          <a:prstGeom prst="rect">
            <a:avLst/>
          </a:prstGeom>
          <a:noFill/>
          <a:ln/>
        </p:spPr>
        <p:txBody>
          <a:bodyPr wrap="square" lIns="0" tIns="0" rIns="0" bIns="0" rtlCol="0" anchor="ctr"/>
          <a:lstStyle/>
          <a:p>
            <a:pPr algn="ctr" indent="0" marL="0">
              <a:buNone/>
            </a:pPr>
            <a:r>
              <a:rPr lang="en-US" sz="1000" spc="100" kern="0" dirty="0">
                <a:solidFill>
                  <a:srgbClr val="EAF3F7"/>
                </a:solidFill>
                <a:latin typeface="Calibri" pitchFamily="34" charset="0"/>
                <a:ea typeface="Calibri" pitchFamily="34" charset="-122"/>
                <a:cs typeface="Calibri" pitchFamily="34" charset="-120"/>
              </a:rPr>
              <a:t>SUBSCRIBED</a:t>
            </a:r>
            <a:endParaRPr lang="en-US" sz="1000" dirty="0"/>
          </a:p>
        </p:txBody>
      </p:sp>
      <p:sp>
        <p:nvSpPr>
          <p:cNvPr id="17" name="Text 15"/>
          <p:cNvSpPr/>
          <p:nvPr/>
        </p:nvSpPr>
        <p:spPr>
          <a:xfrm>
            <a:off x="640080" y="3794760"/>
            <a:ext cx="10424160" cy="365760"/>
          </a:xfrm>
          <a:prstGeom prst="rect">
            <a:avLst/>
          </a:prstGeom>
          <a:noFill/>
          <a:ln/>
        </p:spPr>
        <p:txBody>
          <a:bodyPr wrap="square" lIns="0" tIns="0" rIns="0" bIns="0" rtlCol="0" anchor="ctr"/>
          <a:lstStyle/>
          <a:p>
            <a:pPr indent="0" marL="0">
              <a:buNone/>
            </a:pPr>
            <a:r>
              <a:rPr lang="en-US" sz="1200" i="1" dirty="0">
                <a:solidFill>
                  <a:srgbClr val="1C7293"/>
                </a:solidFill>
                <a:latin typeface="Calibri" pitchFamily="34" charset="0"/>
                <a:ea typeface="Calibri" pitchFamily="34" charset="-122"/>
                <a:cs typeface="Calibri" pitchFamily="34" charset="-120"/>
              </a:rPr>
              <a:t>Dashboard filters available: Subscription Status · Gender · Category · Shipping Type</a:t>
            </a:r>
            <a:endParaRPr lang="en-US" sz="1200" dirty="0"/>
          </a:p>
        </p:txBody>
      </p:sp>
      <p:sp>
        <p:nvSpPr>
          <p:cNvPr id="18" name="Shape 16"/>
          <p:cNvSpPr/>
          <p:nvPr/>
        </p:nvSpPr>
        <p:spPr>
          <a:xfrm>
            <a:off x="640080" y="4343400"/>
            <a:ext cx="5257800" cy="822960"/>
          </a:xfrm>
          <a:prstGeom prst="roundRect">
            <a:avLst>
              <a:gd name="adj" fmla="val 7778"/>
            </a:avLst>
          </a:prstGeom>
          <a:solidFill>
            <a:srgbClr val="10173D"/>
          </a:solidFill>
          <a:ln/>
        </p:spPr>
      </p:sp>
      <p:sp>
        <p:nvSpPr>
          <p:cNvPr id="19" name="Shape 17"/>
          <p:cNvSpPr/>
          <p:nvPr/>
        </p:nvSpPr>
        <p:spPr>
          <a:xfrm>
            <a:off x="822960" y="4526280"/>
            <a:ext cx="457200" cy="457200"/>
          </a:xfrm>
          <a:prstGeom prst="ellipse">
            <a:avLst/>
          </a:prstGeom>
          <a:solidFill>
            <a:srgbClr val="1C7293"/>
          </a:solidFill>
          <a:ln/>
        </p:spPr>
      </p:sp>
      <p:sp>
        <p:nvSpPr>
          <p:cNvPr id="20" name="Text 18"/>
          <p:cNvSpPr/>
          <p:nvPr/>
        </p:nvSpPr>
        <p:spPr>
          <a:xfrm>
            <a:off x="82296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1463040" y="4343400"/>
            <a:ext cx="429768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Customers by Subscription</a:t>
            </a:r>
            <a:endParaRPr lang="en-US" sz="1300" dirty="0"/>
          </a:p>
        </p:txBody>
      </p:sp>
      <p:sp>
        <p:nvSpPr>
          <p:cNvPr id="22" name="Shape 20"/>
          <p:cNvSpPr/>
          <p:nvPr/>
        </p:nvSpPr>
        <p:spPr>
          <a:xfrm>
            <a:off x="6126480" y="4343400"/>
            <a:ext cx="5257800" cy="822960"/>
          </a:xfrm>
          <a:prstGeom prst="roundRect">
            <a:avLst>
              <a:gd name="adj" fmla="val 7778"/>
            </a:avLst>
          </a:prstGeom>
          <a:solidFill>
            <a:srgbClr val="10173D"/>
          </a:solidFill>
          <a:ln/>
        </p:spPr>
      </p:sp>
      <p:sp>
        <p:nvSpPr>
          <p:cNvPr id="23" name="Shape 21"/>
          <p:cNvSpPr/>
          <p:nvPr/>
        </p:nvSpPr>
        <p:spPr>
          <a:xfrm>
            <a:off x="6309360" y="4526280"/>
            <a:ext cx="457200" cy="457200"/>
          </a:xfrm>
          <a:prstGeom prst="ellipse">
            <a:avLst/>
          </a:prstGeom>
          <a:solidFill>
            <a:srgbClr val="1C7293"/>
          </a:solidFill>
          <a:ln/>
        </p:spPr>
      </p:sp>
      <p:sp>
        <p:nvSpPr>
          <p:cNvPr id="24" name="Text 22"/>
          <p:cNvSpPr/>
          <p:nvPr/>
        </p:nvSpPr>
        <p:spPr>
          <a:xfrm>
            <a:off x="630936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6949440" y="4343400"/>
            <a:ext cx="429768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Revenue by Category</a:t>
            </a:r>
            <a:endParaRPr lang="en-US" sz="1300" dirty="0"/>
          </a:p>
        </p:txBody>
      </p:sp>
      <p:sp>
        <p:nvSpPr>
          <p:cNvPr id="26" name="Shape 24"/>
          <p:cNvSpPr/>
          <p:nvPr/>
        </p:nvSpPr>
        <p:spPr>
          <a:xfrm>
            <a:off x="640080" y="5349240"/>
            <a:ext cx="5257800" cy="822960"/>
          </a:xfrm>
          <a:prstGeom prst="roundRect">
            <a:avLst>
              <a:gd name="adj" fmla="val 7778"/>
            </a:avLst>
          </a:prstGeom>
          <a:solidFill>
            <a:srgbClr val="10173D"/>
          </a:solidFill>
          <a:ln/>
        </p:spPr>
      </p:sp>
      <p:sp>
        <p:nvSpPr>
          <p:cNvPr id="27" name="Shape 25"/>
          <p:cNvSpPr/>
          <p:nvPr/>
        </p:nvSpPr>
        <p:spPr>
          <a:xfrm>
            <a:off x="822960" y="5532120"/>
            <a:ext cx="457200" cy="457200"/>
          </a:xfrm>
          <a:prstGeom prst="ellipse">
            <a:avLst/>
          </a:prstGeom>
          <a:solidFill>
            <a:srgbClr val="1C7293"/>
          </a:solidFill>
          <a:ln/>
        </p:spPr>
      </p:sp>
      <p:sp>
        <p:nvSpPr>
          <p:cNvPr id="28" name="Text 26"/>
          <p:cNvSpPr/>
          <p:nvPr/>
        </p:nvSpPr>
        <p:spPr>
          <a:xfrm>
            <a:off x="822960" y="5532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1463040" y="5349240"/>
            <a:ext cx="429768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Sales by Category</a:t>
            </a:r>
            <a:endParaRPr lang="en-US" sz="1300" dirty="0"/>
          </a:p>
        </p:txBody>
      </p:sp>
      <p:sp>
        <p:nvSpPr>
          <p:cNvPr id="30" name="Shape 28"/>
          <p:cNvSpPr/>
          <p:nvPr/>
        </p:nvSpPr>
        <p:spPr>
          <a:xfrm>
            <a:off x="6126480" y="5349240"/>
            <a:ext cx="5257800" cy="822960"/>
          </a:xfrm>
          <a:prstGeom prst="roundRect">
            <a:avLst>
              <a:gd name="adj" fmla="val 7778"/>
            </a:avLst>
          </a:prstGeom>
          <a:solidFill>
            <a:srgbClr val="10173D"/>
          </a:solidFill>
          <a:ln/>
        </p:spPr>
      </p:sp>
      <p:sp>
        <p:nvSpPr>
          <p:cNvPr id="31" name="Shape 29"/>
          <p:cNvSpPr/>
          <p:nvPr/>
        </p:nvSpPr>
        <p:spPr>
          <a:xfrm>
            <a:off x="6309360" y="5532120"/>
            <a:ext cx="457200" cy="457200"/>
          </a:xfrm>
          <a:prstGeom prst="ellipse">
            <a:avLst/>
          </a:prstGeom>
          <a:solidFill>
            <a:srgbClr val="1C7293"/>
          </a:solidFill>
          <a:ln/>
        </p:spPr>
      </p:sp>
      <p:sp>
        <p:nvSpPr>
          <p:cNvPr id="32" name="Text 30"/>
          <p:cNvSpPr/>
          <p:nvPr/>
        </p:nvSpPr>
        <p:spPr>
          <a:xfrm>
            <a:off x="6309360" y="5532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6949440" y="5349240"/>
            <a:ext cx="429768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Revenue &amp; Sales by Age Group</a:t>
            </a:r>
            <a:endParaRPr lang="en-US" sz="1300" dirty="0"/>
          </a:p>
        </p:txBody>
      </p:sp>
      <p:sp>
        <p:nvSpPr>
          <p:cNvPr id="34" name="Text 32"/>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STRATEGIC RECOMMENDATIONS</a:t>
            </a:r>
            <a:endParaRPr lang="en-US" sz="1200" dirty="0"/>
          </a:p>
        </p:txBody>
      </p:sp>
      <p:sp>
        <p:nvSpPr>
          <p:cNvPr id="3" name="Text 1"/>
          <p:cNvSpPr/>
          <p:nvPr/>
        </p:nvSpPr>
        <p:spPr>
          <a:xfrm>
            <a:off x="640080" y="749808"/>
            <a:ext cx="9601200" cy="54864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Five moves to grow revenue and retention</a:t>
            </a:r>
            <a:endParaRPr lang="en-US" sz="2800" dirty="0"/>
          </a:p>
        </p:txBody>
      </p:sp>
      <p:sp>
        <p:nvSpPr>
          <p:cNvPr id="4" name="Shape 2"/>
          <p:cNvSpPr/>
          <p:nvPr/>
        </p:nvSpPr>
        <p:spPr>
          <a:xfrm>
            <a:off x="640080" y="1600200"/>
            <a:ext cx="10881360" cy="896112"/>
          </a:xfrm>
          <a:prstGeom prst="roundRect">
            <a:avLst>
              <a:gd name="adj" fmla="val 8163"/>
            </a:avLst>
          </a:prstGeom>
          <a:solidFill>
            <a:srgbClr val="EAF3F7"/>
          </a:solidFill>
          <a:ln/>
        </p:spPr>
      </p:sp>
      <p:sp>
        <p:nvSpPr>
          <p:cNvPr id="5" name="Shape 3"/>
          <p:cNvSpPr/>
          <p:nvPr/>
        </p:nvSpPr>
        <p:spPr>
          <a:xfrm>
            <a:off x="868680" y="1819656"/>
            <a:ext cx="457200" cy="457200"/>
          </a:xfrm>
          <a:prstGeom prst="ellipse">
            <a:avLst/>
          </a:prstGeom>
          <a:solidFill>
            <a:srgbClr val="065A82"/>
          </a:solidFill>
          <a:ln/>
        </p:spPr>
      </p:sp>
      <p:sp>
        <p:nvSpPr>
          <p:cNvPr id="6" name="Text 4"/>
          <p:cNvSpPr/>
          <p:nvPr/>
        </p:nvSpPr>
        <p:spPr>
          <a:xfrm>
            <a:off x="868680" y="181965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08760" y="1691640"/>
            <a:ext cx="3017520" cy="713232"/>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Boost Subscriptions</a:t>
            </a:r>
            <a:endParaRPr lang="en-US" sz="1350" dirty="0"/>
          </a:p>
        </p:txBody>
      </p:sp>
      <p:sp>
        <p:nvSpPr>
          <p:cNvPr id="8" name="Text 6"/>
          <p:cNvSpPr/>
          <p:nvPr/>
        </p:nvSpPr>
        <p:spPr>
          <a:xfrm>
            <a:off x="4617720" y="1691640"/>
            <a:ext cx="6720840" cy="713232"/>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Promote exclusive benefits for subscribers to grow the small but stable subscriber base beyond 27%.</a:t>
            </a:r>
            <a:endParaRPr lang="en-US" sz="1150" dirty="0"/>
          </a:p>
        </p:txBody>
      </p:sp>
      <p:sp>
        <p:nvSpPr>
          <p:cNvPr id="9" name="Shape 7"/>
          <p:cNvSpPr/>
          <p:nvPr/>
        </p:nvSpPr>
        <p:spPr>
          <a:xfrm>
            <a:off x="640080" y="2606040"/>
            <a:ext cx="10881360" cy="896112"/>
          </a:xfrm>
          <a:prstGeom prst="roundRect">
            <a:avLst>
              <a:gd name="adj" fmla="val 8163"/>
            </a:avLst>
          </a:prstGeom>
          <a:solidFill>
            <a:srgbClr val="FFFFFF"/>
          </a:solidFill>
          <a:ln w="12700">
            <a:solidFill>
              <a:srgbClr val="D9E3E8"/>
            </a:solidFill>
            <a:prstDash val="solid"/>
          </a:ln>
        </p:spPr>
      </p:sp>
      <p:sp>
        <p:nvSpPr>
          <p:cNvPr id="10" name="Shape 8"/>
          <p:cNvSpPr/>
          <p:nvPr/>
        </p:nvSpPr>
        <p:spPr>
          <a:xfrm>
            <a:off x="868680" y="2825496"/>
            <a:ext cx="457200" cy="457200"/>
          </a:xfrm>
          <a:prstGeom prst="ellipse">
            <a:avLst/>
          </a:prstGeom>
          <a:solidFill>
            <a:srgbClr val="065A82"/>
          </a:solidFill>
          <a:ln/>
        </p:spPr>
      </p:sp>
      <p:sp>
        <p:nvSpPr>
          <p:cNvPr id="11" name="Text 9"/>
          <p:cNvSpPr/>
          <p:nvPr/>
        </p:nvSpPr>
        <p:spPr>
          <a:xfrm>
            <a:off x="868680" y="28254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508760" y="2697480"/>
            <a:ext cx="3017520" cy="713232"/>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Customer Loyalty Programs</a:t>
            </a:r>
            <a:endParaRPr lang="en-US" sz="1350" dirty="0"/>
          </a:p>
        </p:txBody>
      </p:sp>
      <p:sp>
        <p:nvSpPr>
          <p:cNvPr id="13" name="Text 11"/>
          <p:cNvSpPr/>
          <p:nvPr/>
        </p:nvSpPr>
        <p:spPr>
          <a:xfrm>
            <a:off x="4617720" y="2697480"/>
            <a:ext cx="6720840" cy="713232"/>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Reward repeat buyers to move more of the 2,518 non-subscribing repeat customers into the Loyal segment.</a:t>
            </a:r>
            <a:endParaRPr lang="en-US" sz="1150" dirty="0"/>
          </a:p>
        </p:txBody>
      </p:sp>
      <p:sp>
        <p:nvSpPr>
          <p:cNvPr id="14" name="Shape 12"/>
          <p:cNvSpPr/>
          <p:nvPr/>
        </p:nvSpPr>
        <p:spPr>
          <a:xfrm>
            <a:off x="640080" y="3611880"/>
            <a:ext cx="10881360" cy="896112"/>
          </a:xfrm>
          <a:prstGeom prst="roundRect">
            <a:avLst>
              <a:gd name="adj" fmla="val 8163"/>
            </a:avLst>
          </a:prstGeom>
          <a:solidFill>
            <a:srgbClr val="EAF3F7"/>
          </a:solidFill>
          <a:ln/>
        </p:spPr>
      </p:sp>
      <p:sp>
        <p:nvSpPr>
          <p:cNvPr id="15" name="Shape 13"/>
          <p:cNvSpPr/>
          <p:nvPr/>
        </p:nvSpPr>
        <p:spPr>
          <a:xfrm>
            <a:off x="868680" y="3831336"/>
            <a:ext cx="457200" cy="457200"/>
          </a:xfrm>
          <a:prstGeom prst="ellipse">
            <a:avLst/>
          </a:prstGeom>
          <a:solidFill>
            <a:srgbClr val="065A82"/>
          </a:solidFill>
          <a:ln/>
        </p:spPr>
      </p:sp>
      <p:sp>
        <p:nvSpPr>
          <p:cNvPr id="16" name="Text 14"/>
          <p:cNvSpPr/>
          <p:nvPr/>
        </p:nvSpPr>
        <p:spPr>
          <a:xfrm>
            <a:off x="868680" y="38313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08760" y="3703320"/>
            <a:ext cx="3017520" cy="713232"/>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Review Discount Policy</a:t>
            </a:r>
            <a:endParaRPr lang="en-US" sz="1350" dirty="0"/>
          </a:p>
        </p:txBody>
      </p:sp>
      <p:sp>
        <p:nvSpPr>
          <p:cNvPr id="18" name="Text 16"/>
          <p:cNvSpPr/>
          <p:nvPr/>
        </p:nvSpPr>
        <p:spPr>
          <a:xfrm>
            <a:off x="4617720" y="3703320"/>
            <a:ext cx="6720840" cy="713232"/>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Balance sales boosts with margin control — items like Hat and Sneakers rely heavily on discounting.</a:t>
            </a:r>
            <a:endParaRPr lang="en-US" sz="1150" dirty="0"/>
          </a:p>
        </p:txBody>
      </p:sp>
      <p:sp>
        <p:nvSpPr>
          <p:cNvPr id="19" name="Shape 17"/>
          <p:cNvSpPr/>
          <p:nvPr/>
        </p:nvSpPr>
        <p:spPr>
          <a:xfrm>
            <a:off x="640080" y="4617720"/>
            <a:ext cx="10881360" cy="896112"/>
          </a:xfrm>
          <a:prstGeom prst="roundRect">
            <a:avLst>
              <a:gd name="adj" fmla="val 8163"/>
            </a:avLst>
          </a:prstGeom>
          <a:solidFill>
            <a:srgbClr val="FFFFFF"/>
          </a:solidFill>
          <a:ln w="12700">
            <a:solidFill>
              <a:srgbClr val="D9E3E8"/>
            </a:solidFill>
            <a:prstDash val="solid"/>
          </a:ln>
        </p:spPr>
      </p:sp>
      <p:sp>
        <p:nvSpPr>
          <p:cNvPr id="20" name="Shape 18"/>
          <p:cNvSpPr/>
          <p:nvPr/>
        </p:nvSpPr>
        <p:spPr>
          <a:xfrm>
            <a:off x="868680" y="4837176"/>
            <a:ext cx="457200" cy="457200"/>
          </a:xfrm>
          <a:prstGeom prst="ellipse">
            <a:avLst/>
          </a:prstGeom>
          <a:solidFill>
            <a:srgbClr val="065A82"/>
          </a:solidFill>
          <a:ln/>
        </p:spPr>
      </p:sp>
      <p:sp>
        <p:nvSpPr>
          <p:cNvPr id="21" name="Text 19"/>
          <p:cNvSpPr/>
          <p:nvPr/>
        </p:nvSpPr>
        <p:spPr>
          <a:xfrm>
            <a:off x="868680" y="483717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1508760" y="4709160"/>
            <a:ext cx="3017520" cy="713232"/>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Product Positioning</a:t>
            </a:r>
            <a:endParaRPr lang="en-US" sz="1350" dirty="0"/>
          </a:p>
        </p:txBody>
      </p:sp>
      <p:sp>
        <p:nvSpPr>
          <p:cNvPr id="23" name="Text 21"/>
          <p:cNvSpPr/>
          <p:nvPr/>
        </p:nvSpPr>
        <p:spPr>
          <a:xfrm>
            <a:off x="4617720" y="4709160"/>
            <a:ext cx="6720840" cy="713232"/>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Highlight top-rated and best-selling products — Gloves, Jewelry, Blouse, Jacket — in campaigns.</a:t>
            </a:r>
            <a:endParaRPr lang="en-US" sz="1150" dirty="0"/>
          </a:p>
        </p:txBody>
      </p:sp>
      <p:sp>
        <p:nvSpPr>
          <p:cNvPr id="24" name="Shape 22"/>
          <p:cNvSpPr/>
          <p:nvPr/>
        </p:nvSpPr>
        <p:spPr>
          <a:xfrm>
            <a:off x="640080" y="5623560"/>
            <a:ext cx="10881360" cy="896112"/>
          </a:xfrm>
          <a:prstGeom prst="roundRect">
            <a:avLst>
              <a:gd name="adj" fmla="val 8163"/>
            </a:avLst>
          </a:prstGeom>
          <a:solidFill>
            <a:srgbClr val="EAF3F7"/>
          </a:solidFill>
          <a:ln/>
        </p:spPr>
      </p:sp>
      <p:sp>
        <p:nvSpPr>
          <p:cNvPr id="25" name="Shape 23"/>
          <p:cNvSpPr/>
          <p:nvPr/>
        </p:nvSpPr>
        <p:spPr>
          <a:xfrm>
            <a:off x="868680" y="5843016"/>
            <a:ext cx="457200" cy="457200"/>
          </a:xfrm>
          <a:prstGeom prst="ellipse">
            <a:avLst/>
          </a:prstGeom>
          <a:solidFill>
            <a:srgbClr val="065A82"/>
          </a:solidFill>
          <a:ln/>
        </p:spPr>
      </p:sp>
      <p:sp>
        <p:nvSpPr>
          <p:cNvPr id="26" name="Text 24"/>
          <p:cNvSpPr/>
          <p:nvPr/>
        </p:nvSpPr>
        <p:spPr>
          <a:xfrm>
            <a:off x="868680" y="584301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7" name="Text 25"/>
          <p:cNvSpPr/>
          <p:nvPr/>
        </p:nvSpPr>
        <p:spPr>
          <a:xfrm>
            <a:off x="1508760" y="5715000"/>
            <a:ext cx="3017520" cy="713232"/>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Targeted Marketing</a:t>
            </a:r>
            <a:endParaRPr lang="en-US" sz="1350" dirty="0"/>
          </a:p>
        </p:txBody>
      </p:sp>
      <p:sp>
        <p:nvSpPr>
          <p:cNvPr id="28" name="Text 26"/>
          <p:cNvSpPr/>
          <p:nvPr/>
        </p:nvSpPr>
        <p:spPr>
          <a:xfrm>
            <a:off x="4617720" y="5715000"/>
            <a:ext cx="6720840" cy="713232"/>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Focus efforts on high-revenue age groups (Young Adults) and Express-shipping users, who spend more on average.</a:t>
            </a:r>
            <a:endParaRPr lang="en-US" sz="1150" dirty="0"/>
          </a:p>
        </p:txBody>
      </p:sp>
      <p:sp>
        <p:nvSpPr>
          <p:cNvPr id="29" name="Text 27"/>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065A82">
              <a:alpha val="45000"/>
            </a:srgbClr>
          </a:solidFill>
          <a:ln/>
        </p:spPr>
      </p:sp>
      <p:sp>
        <p:nvSpPr>
          <p:cNvPr id="3" name="Shape 1"/>
          <p:cNvSpPr/>
          <p:nvPr/>
        </p:nvSpPr>
        <p:spPr>
          <a:xfrm>
            <a:off x="9601200" y="4206240"/>
            <a:ext cx="3840480" cy="3840480"/>
          </a:xfrm>
          <a:prstGeom prst="ellipse">
            <a:avLst/>
          </a:prstGeom>
          <a:solidFill>
            <a:srgbClr val="1C7293">
              <a:alpha val="50000"/>
            </a:srgbClr>
          </a:solidFill>
          <a:ln/>
        </p:spPr>
      </p:sp>
      <p:sp>
        <p:nvSpPr>
          <p:cNvPr id="4" name="Text 2"/>
          <p:cNvSpPr/>
          <p:nvPr/>
        </p:nvSpPr>
        <p:spPr>
          <a:xfrm>
            <a:off x="0" y="2377440"/>
            <a:ext cx="12188952"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0" y="3337560"/>
            <a:ext cx="12188952" cy="457200"/>
          </a:xfrm>
          <a:prstGeom prst="rect">
            <a:avLst/>
          </a:prstGeom>
          <a:noFill/>
          <a:ln/>
        </p:spPr>
        <p:txBody>
          <a:bodyPr wrap="square" rtlCol="0" anchor="ctr"/>
          <a:lstStyle/>
          <a:p>
            <a:pPr algn="ctr" indent="0" marL="0">
              <a:buNone/>
            </a:pPr>
            <a:r>
              <a:rPr lang="en-US" sz="1600" dirty="0">
                <a:solidFill>
                  <a:srgbClr val="EAF3F7"/>
                </a:solidFill>
                <a:latin typeface="Calibri" pitchFamily="34" charset="0"/>
                <a:ea typeface="Calibri" pitchFamily="34" charset="-122"/>
                <a:cs typeface="Calibri" pitchFamily="34" charset="-120"/>
              </a:rPr>
              <a:t>Questions &amp; discussion welcome</a:t>
            </a:r>
            <a:endParaRPr lang="en-US" sz="1600" dirty="0"/>
          </a:p>
        </p:txBody>
      </p:sp>
      <p:sp>
        <p:nvSpPr>
          <p:cNvPr id="6" name="Text 4"/>
          <p:cNvSpPr/>
          <p:nvPr/>
        </p:nvSpPr>
        <p:spPr>
          <a:xfrm>
            <a:off x="0" y="6126480"/>
            <a:ext cx="12188952" cy="365760"/>
          </a:xfrm>
          <a:prstGeom prst="rect">
            <a:avLst/>
          </a:prstGeom>
          <a:noFill/>
          <a:ln/>
        </p:spPr>
        <p:txBody>
          <a:bodyPr wrap="square"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Data source: Customer Shopping Behavior Analysis  ·  Python · SQL · Power BI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2026-09-22T10:21:18Z</dcterms:created>
  <dcterms:modified xsi:type="dcterms:W3CDTF">2026-09-22T10:21:18Z</dcterms:modified>
</cp:coreProperties>
</file>